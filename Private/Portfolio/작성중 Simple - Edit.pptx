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notesMaster" Target="notesMasters/notesMaster1.xml"  /><Relationship Id="rId20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11.png"  /><Relationship Id="rId11" Type="http://schemas.openxmlformats.org/officeDocument/2006/relationships/image" Target="../media/image11.png"  /><Relationship Id="rId12" Type="http://schemas.openxmlformats.org/officeDocument/2006/relationships/image" Target="../media/image12.png"  /><Relationship Id="rId13" Type="http://schemas.openxmlformats.org/officeDocument/2006/relationships/image" Target="../media/image12.png"  /><Relationship Id="rId14" Type="http://schemas.openxmlformats.org/officeDocument/2006/relationships/image" Target="../media/image12.png"  /><Relationship Id="rId15" Type="http://schemas.openxmlformats.org/officeDocument/2006/relationships/image" Target="../media/image13.jpe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Relationship Id="rId7" Type="http://schemas.openxmlformats.org/officeDocument/2006/relationships/image" Target="../media/image6.png"  /><Relationship Id="rId8" Type="http://schemas.openxmlformats.org/officeDocument/2006/relationships/image" Target="../media/image9.png"  /><Relationship Id="rId9" Type="http://schemas.openxmlformats.org/officeDocument/2006/relationships/image" Target="../media/image10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8.png"  /><Relationship Id="rId11" Type="http://schemas.openxmlformats.org/officeDocument/2006/relationships/image" Target="../media/image16.png"  /><Relationship Id="rId12" Type="http://schemas.openxmlformats.org/officeDocument/2006/relationships/image" Target="../media/image18.png"  /><Relationship Id="rId13" Type="http://schemas.openxmlformats.org/officeDocument/2006/relationships/image" Target="../media/image16.png"  /><Relationship Id="rId14" Type="http://schemas.openxmlformats.org/officeDocument/2006/relationships/image" Target="../media/image18.png"  /><Relationship Id="rId15" Type="http://schemas.openxmlformats.org/officeDocument/2006/relationships/image" Target="../media/image16.png"  /><Relationship Id="rId16" Type="http://schemas.openxmlformats.org/officeDocument/2006/relationships/image" Target="../media/image18.png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Relationship Id="rId4" Type="http://schemas.openxmlformats.org/officeDocument/2006/relationships/image" Target="../media/image15.png"  /><Relationship Id="rId5" Type="http://schemas.openxmlformats.org/officeDocument/2006/relationships/image" Target="../media/image15.png"  /><Relationship Id="rId6" Type="http://schemas.openxmlformats.org/officeDocument/2006/relationships/image" Target="../media/image15.png"  /><Relationship Id="rId7" Type="http://schemas.openxmlformats.org/officeDocument/2006/relationships/image" Target="../media/image16.png"  /><Relationship Id="rId8" Type="http://schemas.openxmlformats.org/officeDocument/2006/relationships/image" Target="../media/image17.png"  /><Relationship Id="rId9" Type="http://schemas.openxmlformats.org/officeDocument/2006/relationships/image" Target="../media/image1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Relationship Id="rId5" Type="http://schemas.openxmlformats.org/officeDocument/2006/relationships/image" Target="../media/image22.png"  /><Relationship Id="rId6" Type="http://schemas.openxmlformats.org/officeDocument/2006/relationships/image" Target="../media/image23.png"  /><Relationship Id="rId7" Type="http://schemas.openxmlformats.org/officeDocument/2006/relationships/image" Target="../media/image2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Relationship Id="rId3" Type="http://schemas.openxmlformats.org/officeDocument/2006/relationships/image" Target="../media/image25.png"  /><Relationship Id="rId4" Type="http://schemas.openxmlformats.org/officeDocument/2006/relationships/image" Target="../media/image26.png"  /><Relationship Id="rId5" Type="http://schemas.openxmlformats.org/officeDocument/2006/relationships/image" Target="../media/image2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8.png"  /><Relationship Id="rId3" Type="http://schemas.openxmlformats.org/officeDocument/2006/relationships/image" Target="../media/image29.png"  /><Relationship Id="rId4" Type="http://schemas.openxmlformats.org/officeDocument/2006/relationships/image" Target="../media/image30.png"  /><Relationship Id="rId5" Type="http://schemas.openxmlformats.org/officeDocument/2006/relationships/image" Target="../media/image3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Relationship Id="rId4" Type="http://schemas.openxmlformats.org/officeDocument/2006/relationships/image" Target="../media/image34.png"  /><Relationship Id="rId5" Type="http://schemas.openxmlformats.org/officeDocument/2006/relationships/image" Target="../media/image35.png"  /><Relationship Id="rId6" Type="http://schemas.openxmlformats.org/officeDocument/2006/relationships/image" Target="../media/image36.png"  /><Relationship Id="rId7" Type="http://schemas.openxmlformats.org/officeDocument/2006/relationships/image" Target="../media/image37.png"  /><Relationship Id="rId8" Type="http://schemas.openxmlformats.org/officeDocument/2006/relationships/image" Target="../media/image38.png"  /><Relationship Id="rId9" Type="http://schemas.openxmlformats.org/officeDocument/2006/relationships/image" Target="../media/image3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4.png"  /><Relationship Id="rId11" Type="http://schemas.openxmlformats.org/officeDocument/2006/relationships/image" Target="../media/image45.png"  /><Relationship Id="rId12" Type="http://schemas.openxmlformats.org/officeDocument/2006/relationships/image" Target="../media/image46.png"  /><Relationship Id="rId13" Type="http://schemas.openxmlformats.org/officeDocument/2006/relationships/image" Target="../media/image47.png"  /><Relationship Id="rId14" Type="http://schemas.openxmlformats.org/officeDocument/2006/relationships/image" Target="../media/image48.png"  /><Relationship Id="rId15" Type="http://schemas.openxmlformats.org/officeDocument/2006/relationships/image" Target="../media/image49.png"  /><Relationship Id="rId2" Type="http://schemas.openxmlformats.org/officeDocument/2006/relationships/image" Target="../media/image32.png"  /><Relationship Id="rId3" Type="http://schemas.openxmlformats.org/officeDocument/2006/relationships/image" Target="../media/image40.png"  /><Relationship Id="rId4" Type="http://schemas.openxmlformats.org/officeDocument/2006/relationships/image" Target="../media/image33.png"  /><Relationship Id="rId5" Type="http://schemas.openxmlformats.org/officeDocument/2006/relationships/image" Target="../media/image34.png"  /><Relationship Id="rId6" Type="http://schemas.openxmlformats.org/officeDocument/2006/relationships/image" Target="../media/image41.png"  /><Relationship Id="rId7" Type="http://schemas.openxmlformats.org/officeDocument/2006/relationships/image" Target="../media/image35.png"  /><Relationship Id="rId8" Type="http://schemas.openxmlformats.org/officeDocument/2006/relationships/image" Target="../media/image42.png"  /><Relationship Id="rId9" Type="http://schemas.openxmlformats.org/officeDocument/2006/relationships/image" Target="../media/image4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3.png"  /><Relationship Id="rId11" Type="http://schemas.openxmlformats.org/officeDocument/2006/relationships/image" Target="../media/image54.png"  /><Relationship Id="rId12" Type="http://schemas.openxmlformats.org/officeDocument/2006/relationships/image" Target="../media/image55.png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Relationship Id="rId4" Type="http://schemas.openxmlformats.org/officeDocument/2006/relationships/image" Target="../media/image34.png"  /><Relationship Id="rId5" Type="http://schemas.openxmlformats.org/officeDocument/2006/relationships/image" Target="../media/image50.png"  /><Relationship Id="rId6" Type="http://schemas.openxmlformats.org/officeDocument/2006/relationships/image" Target="../media/image41.png"  /><Relationship Id="rId7" Type="http://schemas.openxmlformats.org/officeDocument/2006/relationships/image" Target="../media/image35.png"  /><Relationship Id="rId8" Type="http://schemas.openxmlformats.org/officeDocument/2006/relationships/image" Target="../media/image51.png"  /><Relationship Id="rId9" Type="http://schemas.openxmlformats.org/officeDocument/2006/relationships/image" Target="../media/image52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0.png"  /><Relationship Id="rId11" Type="http://schemas.openxmlformats.org/officeDocument/2006/relationships/image" Target="../media/image61.png"  /><Relationship Id="rId12" Type="http://schemas.openxmlformats.org/officeDocument/2006/relationships/image" Target="../media/image62.png"  /><Relationship Id="rId13" Type="http://schemas.openxmlformats.org/officeDocument/2006/relationships/image" Target="../media/image38.png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Relationship Id="rId4" Type="http://schemas.openxmlformats.org/officeDocument/2006/relationships/image" Target="../media/image34.png"  /><Relationship Id="rId5" Type="http://schemas.openxmlformats.org/officeDocument/2006/relationships/image" Target="../media/image56.png"  /><Relationship Id="rId6" Type="http://schemas.openxmlformats.org/officeDocument/2006/relationships/image" Target="../media/image57.png"  /><Relationship Id="rId7" Type="http://schemas.openxmlformats.org/officeDocument/2006/relationships/image" Target="../media/image58.png"  /><Relationship Id="rId8" Type="http://schemas.openxmlformats.org/officeDocument/2006/relationships/image" Target="../media/image59.png"  /><Relationship Id="rId9" Type="http://schemas.openxmlformats.org/officeDocument/2006/relationships/image" Target="../media/image3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7.png"  /><Relationship Id="rId11" Type="http://schemas.openxmlformats.org/officeDocument/2006/relationships/image" Target="../media/image68.png"  /><Relationship Id="rId12" Type="http://schemas.openxmlformats.org/officeDocument/2006/relationships/image" Target="../media/image69.png"  /><Relationship Id="rId13" Type="http://schemas.openxmlformats.org/officeDocument/2006/relationships/image" Target="../media/image70.png"  /><Relationship Id="rId14" Type="http://schemas.openxmlformats.org/officeDocument/2006/relationships/image" Target="../media/image71.png"  /><Relationship Id="rId15" Type="http://schemas.openxmlformats.org/officeDocument/2006/relationships/image" Target="../media/image72.png"  /><Relationship Id="rId16" Type="http://schemas.openxmlformats.org/officeDocument/2006/relationships/image" Target="../media/image73.png"  /><Relationship Id="rId17" Type="http://schemas.openxmlformats.org/officeDocument/2006/relationships/image" Target="../media/image74.png"  /><Relationship Id="rId18" Type="http://schemas.openxmlformats.org/officeDocument/2006/relationships/image" Target="../media/image75.png"  /><Relationship Id="rId19" Type="http://schemas.openxmlformats.org/officeDocument/2006/relationships/image" Target="../media/image76.png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Relationship Id="rId4" Type="http://schemas.openxmlformats.org/officeDocument/2006/relationships/image" Target="../media/image34.png"  /><Relationship Id="rId5" Type="http://schemas.openxmlformats.org/officeDocument/2006/relationships/image" Target="../media/image35.png"  /><Relationship Id="rId6" Type="http://schemas.openxmlformats.org/officeDocument/2006/relationships/image" Target="../media/image63.png"  /><Relationship Id="rId7" Type="http://schemas.openxmlformats.org/officeDocument/2006/relationships/image" Target="../media/image64.png"  /><Relationship Id="rId8" Type="http://schemas.openxmlformats.org/officeDocument/2006/relationships/image" Target="../media/image65.png"  /><Relationship Id="rId9" Type="http://schemas.openxmlformats.org/officeDocument/2006/relationships/image" Target="../media/image66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80.png"  /><Relationship Id="rId11" Type="http://schemas.openxmlformats.org/officeDocument/2006/relationships/image" Target="../media/image81.png"  /><Relationship Id="rId12" Type="http://schemas.openxmlformats.org/officeDocument/2006/relationships/image" Target="../media/image82.png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Relationship Id="rId4" Type="http://schemas.openxmlformats.org/officeDocument/2006/relationships/image" Target="../media/image34.png"  /><Relationship Id="rId5" Type="http://schemas.openxmlformats.org/officeDocument/2006/relationships/image" Target="../media/image35.png"  /><Relationship Id="rId6" Type="http://schemas.openxmlformats.org/officeDocument/2006/relationships/image" Target="../media/image77.png"  /><Relationship Id="rId7" Type="http://schemas.openxmlformats.org/officeDocument/2006/relationships/image" Target="../media/image51.png"  /><Relationship Id="rId8" Type="http://schemas.openxmlformats.org/officeDocument/2006/relationships/image" Target="../media/image78.png"  /><Relationship Id="rId9" Type="http://schemas.openxmlformats.org/officeDocument/2006/relationships/image" Target="../media/image79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86.png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Relationship Id="rId4" Type="http://schemas.openxmlformats.org/officeDocument/2006/relationships/image" Target="../media/image35.png"  /><Relationship Id="rId5" Type="http://schemas.openxmlformats.org/officeDocument/2006/relationships/image" Target="../media/image34.png"  /><Relationship Id="rId6" Type="http://schemas.openxmlformats.org/officeDocument/2006/relationships/image" Target="../media/image83.png"  /><Relationship Id="rId7" Type="http://schemas.openxmlformats.org/officeDocument/2006/relationships/image" Target="../media/image84.png"  /><Relationship Id="rId8" Type="http://schemas.openxmlformats.org/officeDocument/2006/relationships/image" Target="../media/image85.png"  /><Relationship Id="rId9" Type="http://schemas.openxmlformats.org/officeDocument/2006/relationships/image" Target="../media/image5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7.png"  /><Relationship Id="rId3" Type="http://schemas.openxmlformats.org/officeDocument/2006/relationships/image" Target="../media/image33.png"  /><Relationship Id="rId4" Type="http://schemas.openxmlformats.org/officeDocument/2006/relationships/image" Target="../media/image88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2600" y="8636000"/>
            <a:ext cx="173355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2600" y="469900"/>
            <a:ext cx="17335500" cy="1143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17500" y="2641600"/>
            <a:ext cx="17653000" cy="3556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0000" b="0" i="0" u="none" strike="noStrike">
                <a:solidFill>
                  <a:srgbClr val="000000">
                    <a:alpha val="20000"/>
                  </a:srgbClr>
                </a:solidFill>
                <a:latin typeface="Pretendard ExtraBold"/>
              </a:rPr>
              <a:t>Programmer</a:t>
            </a:r>
            <a:endParaRPr lang="en-US" altLang="ko-KR" sz="20000" b="0" i="0" u="none" strike="noStrike">
              <a:solidFill>
                <a:srgbClr val="000000">
                  <a:alpha val="20000"/>
                </a:srgbClr>
              </a:solidFill>
              <a:latin typeface="Pretendard ExtraBold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-203200" y="5130800"/>
            <a:ext cx="18681700" cy="5321300"/>
          </a:xfrm>
          <a:prstGeom prst="rect">
            <a:avLst/>
          </a:prstGeom>
          <a:effectLst>
            <a:outerShdw blurRad="352096" dir="5400000">
              <a:srgbClr val="000000">
                <a:alpha val="15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060700" y="9296400"/>
            <a:ext cx="12166600" cy="533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289300" y="9385300"/>
            <a:ext cx="117094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100" b="1" i="0" u="none" strike="noStrike">
                <a:solidFill>
                  <a:srgbClr val="ffffff"/>
                </a:solidFill>
                <a:latin typeface="Pretendard Medium"/>
              </a:rPr>
              <a:t>M.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 010-</a:t>
            </a:r>
            <a:r>
              <a:rPr lang="en-US" altLang="ko-KR" sz="2100" b="0" i="0" u="none" strike="noStrike">
                <a:solidFill>
                  <a:srgbClr val="ffffff"/>
                </a:solidFill>
                <a:latin typeface="Pretendard Medium"/>
              </a:rPr>
              <a:t>4768-5892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      |      </a:t>
            </a:r>
            <a:r>
              <a:rPr lang="en-US" sz="2100" b="1" i="0" u="none" strike="noStrike">
                <a:solidFill>
                  <a:srgbClr val="ffffff"/>
                </a:solidFill>
                <a:latin typeface="Pretendard Medium"/>
              </a:rPr>
              <a:t>E.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 </a:t>
            </a:r>
            <a:r>
              <a:rPr lang="en-US" altLang="ko-KR" sz="2100" b="0" i="0" u="none" strike="noStrike">
                <a:solidFill>
                  <a:srgbClr val="ffffff"/>
                </a:solidFill>
                <a:latin typeface="Pretendard Medium"/>
              </a:rPr>
              <a:t>kimhb532@gmail.com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      |      </a:t>
            </a:r>
            <a:r>
              <a:rPr lang="en-US" sz="2100" b="1" i="0" u="none" strike="noStrike">
                <a:solidFill>
                  <a:srgbClr val="ffffff"/>
                </a:solidFill>
                <a:latin typeface="Pretendard Medium"/>
              </a:rPr>
              <a:t>W.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 </a:t>
            </a:r>
            <a:r>
              <a:rPr lang="en-US" altLang="ko-KR" sz="2100" b="0" i="0" u="none" strike="noStrike">
                <a:solidFill>
                  <a:srgbClr val="ffffff"/>
                </a:solidFill>
                <a:latin typeface="Pretendard Medium"/>
              </a:rPr>
              <a:t>-</a:t>
            </a:r>
            <a:endParaRPr lang="en-US" altLang="ko-KR" sz="2100" b="0" i="0" u="none" strike="noStrike">
              <a:solidFill>
                <a:srgbClr val="ffffff"/>
              </a:solidFill>
              <a:latin typeface="Pretendard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81200" y="6819900"/>
            <a:ext cx="14338300" cy="444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2500" b="0" i="0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이곳에</a:t>
            </a:r>
            <a:r>
              <a:rPr lang="en-US" sz="2500" b="0" i="0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한줄</a:t>
            </a:r>
            <a:r>
              <a:rPr lang="en-US" sz="2500" b="0" i="0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소개를</a:t>
            </a:r>
            <a:r>
              <a:rPr lang="en-US" sz="2500" b="0" i="0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입력해주세요</a:t>
            </a:r>
            <a:r>
              <a:rPr lang="en-US" sz="2500" b="0" i="0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.</a:t>
            </a:r>
            <a:endParaRPr lang="en-US" sz="2500" b="0" i="0" u="none" strike="noStrike">
              <a:solidFill>
                <a:srgbClr val="000000">
                  <a:alpha val="40000"/>
                </a:srgbClr>
              </a:solidFill>
              <a:latin typeface="Pretendard Semi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78300" y="5232400"/>
            <a:ext cx="9918700" cy="1689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9500" b="0" i="0" u="none" strike="noStrike" spc="400">
                <a:solidFill>
                  <a:srgbClr val="000000"/>
                </a:solidFill>
                <a:latin typeface="Pretendard Black"/>
              </a:rPr>
              <a:t>Kim</a:t>
            </a:r>
            <a:r>
              <a:rPr lang="ko-KR" altLang="en-US" sz="9500" b="0" i="0" u="none" strike="noStrike" spc="400">
                <a:solidFill>
                  <a:srgbClr val="000000"/>
                </a:solidFill>
                <a:latin typeface="Pretendard Black"/>
              </a:rPr>
              <a:t> </a:t>
            </a:r>
            <a:r>
              <a:rPr lang="en-US" altLang="ko-KR" sz="9500" b="0" i="0" u="none" strike="noStrike" spc="400">
                <a:solidFill>
                  <a:srgbClr val="000000"/>
                </a:solidFill>
                <a:latin typeface="Pretendard Black"/>
              </a:rPr>
              <a:t>HongBeom</a:t>
            </a:r>
            <a:endParaRPr lang="en-US" altLang="ko-KR" sz="9500" b="0" i="0" u="none" strike="noStrike" spc="400">
              <a:solidFill>
                <a:srgbClr val="000000"/>
              </a:solidFill>
              <a:latin typeface="Pretendard Black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89000" y="876300"/>
            <a:ext cx="16510000" cy="355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20</a:t>
            </a:r>
            <a:r>
              <a:rPr lang="en-US" altLang="ko-KR" sz="2000" b="0" i="0" u="none" strike="noStrike">
                <a:solidFill>
                  <a:srgbClr val="ffffff"/>
                </a:solidFill>
                <a:latin typeface="Pretendard SemiBold"/>
              </a:rPr>
              <a:t>26</a:t>
            </a: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 Kim </a:t>
            </a:r>
            <a:r>
              <a:rPr lang="en-US" altLang="ko-KR" sz="2000" b="0" i="0" u="none" strike="noStrike">
                <a:solidFill>
                  <a:srgbClr val="ffffff"/>
                </a:solidFill>
                <a:latin typeface="Pretendard SemiBold"/>
              </a:rPr>
              <a:t>HongBeom</a:t>
            </a: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 Portfolio</a:t>
            </a:r>
            <a:endParaRPr lang="en-US" sz="2000" b="0" i="0" u="none" strike="noStrike">
              <a:solidFill>
                <a:srgbClr val="ffffff"/>
              </a:solidFill>
              <a:latin typeface="Pretendard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203200" y="2032000"/>
            <a:ext cx="18681700" cy="8432800"/>
          </a:xfrm>
          <a:prstGeom prst="rect">
            <a:avLst/>
          </a:prstGeom>
          <a:effectLst>
            <a:outerShdw blurRad="884403" dir="5400000">
              <a:srgbClr val="000000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105400" y="4635500"/>
            <a:ext cx="127127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105400" y="7226300"/>
            <a:ext cx="127127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82600" y="9817100"/>
            <a:ext cx="173355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105400" y="2476500"/>
            <a:ext cx="127127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051800" y="8953500"/>
            <a:ext cx="1092200" cy="520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051800" y="8267700"/>
            <a:ext cx="2235200" cy="520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051800" y="7594600"/>
            <a:ext cx="1092200" cy="520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0922000" y="8267700"/>
            <a:ext cx="1270000" cy="533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0922000" y="7594600"/>
            <a:ext cx="1092200" cy="533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0922000" y="8953500"/>
            <a:ext cx="1092200" cy="5334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20" name="Group 20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26" name="Group 26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32" name="Group 32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38" name="Group 38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44" name="Group 44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sp>
        <p:nvSpPr>
          <p:cNvPr id="51" name="TextBox 51"/>
          <p:cNvSpPr txBox="1"/>
          <p:nvPr/>
        </p:nvSpPr>
        <p:spPr>
          <a:xfrm>
            <a:off x="10960100" y="9029700"/>
            <a:ext cx="10160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SemiBold"/>
              </a:rPr>
              <a:t>Pr</a:t>
            </a:r>
            <a:endParaRPr lang="en-US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8102600" y="9029700"/>
            <a:ext cx="10033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endParaRPr lang="en-US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922000" y="8356600"/>
            <a:ext cx="12700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200" b="0" i="0" u="none" strike="noStrike" spc="-100">
                <a:solidFill>
                  <a:srgbClr val="000000"/>
                </a:solidFill>
                <a:latin typeface="Pretendard SemiBold"/>
              </a:rPr>
              <a:t>ComfyUI</a:t>
            </a:r>
            <a:endParaRPr lang="en-US" altLang="ko-KR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255000" y="8356600"/>
            <a:ext cx="18796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200" b="0" i="0" u="none" strike="noStrike" spc="-100">
                <a:solidFill>
                  <a:srgbClr val="000000"/>
                </a:solidFill>
                <a:latin typeface="Pretendard SemiBold"/>
              </a:rPr>
              <a:t>StableDiffusion</a:t>
            </a:r>
            <a:endParaRPr lang="en-US" altLang="ko-KR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0922000" y="7670800"/>
            <a:ext cx="1079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200" b="0" i="0" u="none" strike="noStrike" spc="-100">
                <a:solidFill>
                  <a:srgbClr val="000000"/>
                </a:solidFill>
                <a:latin typeface="Pretendard SemiBold"/>
              </a:rPr>
              <a:t>Unreal</a:t>
            </a:r>
            <a:endParaRPr lang="en-US" altLang="ko-KR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8064500" y="7670800"/>
            <a:ext cx="1079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200" b="0" i="0" u="none" strike="noStrike" spc="-100">
                <a:solidFill>
                  <a:srgbClr val="000000"/>
                </a:solidFill>
                <a:latin typeface="Pretendard SemiBold"/>
              </a:rPr>
              <a:t>C/C++</a:t>
            </a:r>
            <a:endParaRPr lang="en-US" altLang="ko-KR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5092700" y="7429500"/>
            <a:ext cx="29464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2300" b="0" i="0" u="none" strike="noStrike">
                <a:solidFill>
                  <a:srgbClr val="000000"/>
                </a:solidFill>
                <a:ea typeface="Pretendard Bold"/>
              </a:rPr>
              <a:t>기술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Bold"/>
              </a:rPr>
              <a:t>  Skill</a:t>
            </a:r>
            <a:endParaRPr lang="en-US" sz="23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10922000" y="4940300"/>
            <a:ext cx="69342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1900" b="0" i="0" u="none" strike="noStrike">
                <a:solidFill>
                  <a:srgbClr val="000000"/>
                </a:solidFill>
                <a:ea typeface="Pretendard Medium"/>
              </a:rPr>
              <a:t>-</a:t>
            </a:r>
            <a:endParaRPr lang="en-US" altLang="ko-KR" sz="19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8051800" y="4940300"/>
            <a:ext cx="25908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-</a:t>
            </a:r>
            <a:endParaRPr lang="en-US" altLang="ko-KR" sz="19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5092700" y="4876800"/>
            <a:ext cx="29464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2300" b="0" i="0" u="none" strike="noStrike">
                <a:solidFill>
                  <a:srgbClr val="000000"/>
                </a:solidFill>
                <a:ea typeface="Pretendard Bold"/>
              </a:rPr>
              <a:t>경력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Bold"/>
              </a:rPr>
              <a:t>  Experience</a:t>
            </a:r>
            <a:endParaRPr lang="en-US" sz="23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0922000" y="3200400"/>
            <a:ext cx="69342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1900" b="0" i="0" u="none" strike="noStrike">
                <a:solidFill>
                  <a:srgbClr val="000000"/>
                </a:solidFill>
                <a:ea typeface="Pretendard Medium"/>
              </a:rPr>
              <a:t>-</a:t>
            </a:r>
            <a:endParaRPr lang="en-US" altLang="ko-KR" sz="19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8051800" y="3187700"/>
            <a:ext cx="25908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-</a:t>
            </a:r>
            <a:endParaRPr lang="en-US" altLang="ko-KR" sz="19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10922000" y="2692400"/>
            <a:ext cx="69342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1900" b="0" i="0" u="none" strike="noStrike">
                <a:solidFill>
                  <a:srgbClr val="000000"/>
                </a:solidFill>
                <a:ea typeface="Pretendard Medium"/>
              </a:rPr>
              <a:t>제주대학교 컴퓨터 공학과 </a:t>
            </a:r>
            <a:r>
              <a:rPr lang="en-US" altLang="ko-KR" sz="1900" b="0" i="0" u="none" strike="noStrike">
                <a:solidFill>
                  <a:srgbClr val="000000"/>
                </a:solidFill>
                <a:ea typeface="Pretendard Medium"/>
              </a:rPr>
              <a:t>(4</a:t>
            </a:r>
            <a:r>
              <a:rPr lang="ko-KR" altLang="en-US" sz="1900" b="0" i="0" u="none" strike="noStrike">
                <a:solidFill>
                  <a:srgbClr val="000000"/>
                </a:solidFill>
                <a:ea typeface="Pretendard Medium"/>
              </a:rPr>
              <a:t>년중퇴</a:t>
            </a:r>
            <a:r>
              <a:rPr lang="en-US" altLang="ko-KR" sz="1900" b="0" i="0" u="none" strike="noStrike">
                <a:solidFill>
                  <a:srgbClr val="000000"/>
                </a:solidFill>
                <a:ea typeface="Pretendard Medium"/>
              </a:rPr>
              <a:t>)</a:t>
            </a:r>
            <a:endParaRPr lang="en-US" altLang="ko-KR" sz="19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8051800" y="2692400"/>
            <a:ext cx="25908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20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14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.0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2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- 20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23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09</a:t>
            </a:r>
            <a:endParaRPr lang="en-US" altLang="ko-KR" sz="19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5092700" y="2616200"/>
            <a:ext cx="29464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2300" b="0" i="0" u="none" strike="noStrike">
                <a:solidFill>
                  <a:srgbClr val="000000"/>
                </a:solidFill>
                <a:ea typeface="Pretendard Bold"/>
              </a:rPr>
              <a:t>학력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Bold"/>
              </a:rPr>
              <a:t>  Education</a:t>
            </a:r>
            <a:endParaRPr lang="en-US" sz="23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876300" y="8547100"/>
            <a:ext cx="3657600" cy="1066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1900" b="0" i="0" u="none" strike="noStrike">
                <a:solidFill>
                  <a:srgbClr val="ff3c00"/>
                </a:solidFill>
                <a:latin typeface="Pretendard Medium"/>
              </a:rPr>
              <a:t>010-</a:t>
            </a:r>
            <a:r>
              <a:rPr lang="en-US" altLang="ko-KR" sz="1900" b="0" i="0" u="none" strike="noStrike">
                <a:solidFill>
                  <a:srgbClr val="ff3c00"/>
                </a:solidFill>
                <a:latin typeface="Pretendard Medium"/>
              </a:rPr>
              <a:t>4768-5892</a:t>
            </a:r>
            <a:endParaRPr lang="en-US" altLang="ko-KR" sz="1900" b="0" i="0" u="none" strike="noStrike">
              <a:solidFill>
                <a:srgbClr val="ff3c00"/>
              </a:solidFill>
              <a:latin typeface="Pretendard Medium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altLang="ko-KR" sz="1900" b="0" i="0" u="none" strike="noStrike">
                <a:solidFill>
                  <a:srgbClr val="ff3c00"/>
                </a:solidFill>
                <a:latin typeface="Pretendard Medium"/>
              </a:rPr>
              <a:t>kimhb532@gmail.com</a:t>
            </a:r>
            <a:endParaRPr lang="en-US" altLang="ko-KR" sz="1900" b="0" i="0" u="none" strike="noStrike">
              <a:solidFill>
                <a:srgbClr val="ff3c00"/>
              </a:solidFill>
              <a:latin typeface="Pretendard Medium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altLang="ko-KR" sz="1900" b="0" i="0" u="none" strike="noStrike">
                <a:solidFill>
                  <a:srgbClr val="ff3c00"/>
                </a:solidFill>
                <a:latin typeface="Pretendard Medium"/>
              </a:rPr>
              <a:t>-</a:t>
            </a:r>
            <a:endParaRPr lang="en-US" altLang="ko-KR" sz="1900" b="0" i="0" u="none" strike="noStrike">
              <a:solidFill>
                <a:srgbClr val="ff3c00"/>
              </a:solidFill>
              <a:latin typeface="Pretendard Medium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508000" y="8547100"/>
            <a:ext cx="406400" cy="1066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1900" b="0" i="0" u="none" strike="noStrike">
                <a:solidFill>
                  <a:srgbClr val="ff3c00"/>
                </a:solidFill>
                <a:latin typeface="Pretendard Bold"/>
              </a:rPr>
              <a:t>M.</a:t>
            </a:r>
            <a:endParaRPr lang="en-US" sz="1900" b="0" i="0" u="none" strike="noStrike">
              <a:solidFill>
                <a:srgbClr val="ff3c00"/>
              </a:solidFill>
              <a:latin typeface="Pretendard Bold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1900" b="0" i="0" u="none" strike="noStrike">
                <a:solidFill>
                  <a:srgbClr val="ff3c00"/>
                </a:solidFill>
                <a:latin typeface="Pretendard Bold"/>
              </a:rPr>
              <a:t>E.</a:t>
            </a:r>
            <a:endParaRPr lang="en-US" sz="1900" b="0" i="0" u="none" strike="noStrike">
              <a:solidFill>
                <a:srgbClr val="ff3c00"/>
              </a:solidFill>
              <a:latin typeface="Pretendard Bold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1900" b="0" i="0" u="none" strike="noStrike">
                <a:solidFill>
                  <a:srgbClr val="ff3c00"/>
                </a:solidFill>
                <a:latin typeface="Pretendard Bold"/>
              </a:rPr>
              <a:t>W.</a:t>
            </a:r>
            <a:endParaRPr lang="en-US" sz="1900" b="0" i="0" u="none" strike="noStrike">
              <a:solidFill>
                <a:srgbClr val="ff3c00"/>
              </a:solidFill>
              <a:latin typeface="Pretendard Bold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508000" y="7962900"/>
            <a:ext cx="36576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/ 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1995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10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13</a:t>
            </a:r>
            <a:endParaRPr lang="en-US" altLang="ko-KR" sz="19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508000" y="7442200"/>
            <a:ext cx="3670300" cy="482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2700" b="0" i="0" u="none" strike="noStrike" spc="-100">
                <a:solidFill>
                  <a:srgbClr val="000000"/>
                </a:solidFill>
                <a:ea typeface="Pretendard Bold"/>
              </a:rPr>
              <a:t>김</a:t>
            </a:r>
            <a:r>
              <a:rPr lang="ko-KR" altLang="en-US" sz="2700" b="0" i="0" u="none" strike="noStrike" spc="-100">
                <a:solidFill>
                  <a:srgbClr val="000000"/>
                </a:solidFill>
                <a:ea typeface="Pretendard Bold"/>
              </a:rPr>
              <a:t>홍범</a:t>
            </a:r>
            <a:r>
              <a:rPr lang="en-US" sz="2700" b="0" i="0" u="none" strike="noStrike" spc="-100">
                <a:solidFill>
                  <a:srgbClr val="000000"/>
                </a:solidFill>
                <a:latin typeface="Pretendard Bold"/>
              </a:rPr>
              <a:t> Kim </a:t>
            </a:r>
            <a:r>
              <a:rPr lang="en-US" altLang="ko-KR" sz="2700" b="0" i="0" u="none" strike="noStrike" spc="-100">
                <a:solidFill>
                  <a:srgbClr val="000000"/>
                </a:solidFill>
                <a:latin typeface="Pretendard Bold"/>
              </a:rPr>
              <a:t>Hong Beom</a:t>
            </a:r>
            <a:endParaRPr lang="en-US" altLang="ko-KR" sz="2700" b="0" i="0" u="none" strike="noStrike" spc="-100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12801600" y="876300"/>
            <a:ext cx="4610100" cy="355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20</a:t>
            </a:r>
            <a:r>
              <a:rPr lang="en-US" altLang="ko-KR" sz="2000" b="0" i="0" u="none" strike="noStrike">
                <a:solidFill>
                  <a:srgbClr val="ffffff"/>
                </a:solidFill>
                <a:latin typeface="Pretendard SemiBold"/>
              </a:rPr>
              <a:t>26</a:t>
            </a: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 Kim </a:t>
            </a:r>
            <a:r>
              <a:rPr lang="en-US" altLang="ko-KR" sz="2000" b="0" i="0" u="none" strike="noStrike">
                <a:solidFill>
                  <a:srgbClr val="ffffff"/>
                </a:solidFill>
                <a:latin typeface="Pretendard SemiBold"/>
              </a:rPr>
              <a:t>HongBeom</a:t>
            </a: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 Portfolio</a:t>
            </a:r>
            <a:endParaRPr lang="en-US" sz="2000" b="0" i="0" u="none" strike="noStrike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762000" y="673100"/>
            <a:ext cx="10248900" cy="711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4000" b="0" i="0" u="none" strike="noStrike" spc="100">
                <a:solidFill>
                  <a:srgbClr val="ffffff"/>
                </a:solidFill>
                <a:ea typeface="Pretendard Bold"/>
              </a:rPr>
              <a:t>이력사항</a:t>
            </a:r>
            <a:endParaRPr lang="ko-KR" sz="4000" b="0" i="0" u="none" strike="noStrike" spc="100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81" name="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387191" y="2781300"/>
            <a:ext cx="3956208" cy="396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11500" y="203200"/>
            <a:ext cx="12052300" cy="2667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15000" b="0" i="0" u="none" strike="noStrike">
                <a:solidFill>
                  <a:srgbClr val="000000">
                    <a:alpha val="20000"/>
                  </a:srgbClr>
                </a:solidFill>
                <a:latin typeface="Pretendard ExtraBold"/>
              </a:rPr>
              <a:t>Contents</a:t>
            </a:r>
            <a:endParaRPr lang="en-US" sz="15000" b="0" i="0" u="none" strike="noStrike">
              <a:solidFill>
                <a:srgbClr val="000000">
                  <a:alpha val="20000"/>
                </a:srgbClr>
              </a:solidFill>
              <a:latin typeface="Pretendard ExtraBold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03200" y="2032000"/>
            <a:ext cx="18681700" cy="8432800"/>
          </a:xfrm>
          <a:prstGeom prst="rect">
            <a:avLst/>
          </a:prstGeom>
          <a:effectLst>
            <a:outerShdw blurRad="884403" dir="54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74800" y="3848100"/>
            <a:ext cx="151511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74800" y="5334000"/>
            <a:ext cx="151511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574800" y="6807200"/>
            <a:ext cx="151511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74800" y="8280400"/>
            <a:ext cx="15151100" cy="254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864600" y="2832100"/>
            <a:ext cx="571500" cy="571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2700000">
            <a:off x="9029700" y="3009900"/>
            <a:ext cx="241300" cy="2413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864600" y="4318000"/>
            <a:ext cx="571500" cy="571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 rot="2700000">
            <a:off x="9029700" y="4483100"/>
            <a:ext cx="241300" cy="2413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864600" y="5791200"/>
            <a:ext cx="571500" cy="571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 rot="2700000">
            <a:off x="9029700" y="5956300"/>
            <a:ext cx="241300" cy="2413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864600" y="7277100"/>
            <a:ext cx="571500" cy="571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 rot="2700000">
            <a:off x="9029700" y="7442200"/>
            <a:ext cx="241300" cy="2413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864600" y="8750300"/>
            <a:ext cx="571500" cy="571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 rot="2700000">
            <a:off x="9029700" y="8915400"/>
            <a:ext cx="241300" cy="2413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0096500" y="8851900"/>
            <a:ext cx="66802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대해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간단히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소개해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endParaRPr lang="en-US" sz="20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654300" y="8737600"/>
            <a:ext cx="54991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3200" b="0" i="0" u="none" strike="noStrike">
                <a:solidFill>
                  <a:srgbClr val="000000"/>
                </a:solidFill>
                <a:ea typeface="Pretendard SemiBold"/>
              </a:rPr>
              <a:t>프로젝트명</a:t>
            </a:r>
            <a:endParaRPr lang="ko-KR" sz="32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36700" y="8801100"/>
            <a:ext cx="711200" cy="444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500" b="0" i="0" u="none" strike="noStrike" spc="-100">
                <a:solidFill>
                  <a:srgbClr val="ff3c00"/>
                </a:solidFill>
                <a:latin typeface="Pretendard SemiBold"/>
              </a:rPr>
              <a:t>05</a:t>
            </a:r>
            <a:endParaRPr lang="en-US" sz="2500" b="0" i="0" u="none" strike="noStrike" spc="-100">
              <a:solidFill>
                <a:srgbClr val="ff3c00"/>
              </a:solidFill>
              <a:latin typeface="Pretendard Semi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096500" y="7366000"/>
            <a:ext cx="66802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대해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간단히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소개해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endParaRPr lang="en-US" sz="20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654300" y="7251700"/>
            <a:ext cx="45593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3200" b="0" i="0" u="none" strike="noStrike">
                <a:solidFill>
                  <a:srgbClr val="000000"/>
                </a:solidFill>
                <a:ea typeface="Pretendard SemiBold"/>
              </a:rPr>
              <a:t>프로젝트명</a:t>
            </a:r>
            <a:endParaRPr lang="ko-KR" sz="32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536700" y="7327900"/>
            <a:ext cx="711200" cy="444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500" b="0" i="0" u="none" strike="noStrike" spc="-100">
                <a:solidFill>
                  <a:srgbClr val="ff3c00"/>
                </a:solidFill>
                <a:latin typeface="Pretendard SemiBold"/>
              </a:rPr>
              <a:t>04</a:t>
            </a:r>
            <a:endParaRPr lang="en-US" sz="2500" b="0" i="0" u="none" strike="noStrike" spc="-100">
              <a:solidFill>
                <a:srgbClr val="ff3c00"/>
              </a:solidFill>
              <a:latin typeface="Pretendard Semi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096500" y="5892800"/>
            <a:ext cx="66802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2000" b="0" i="0" u="none" strike="noStrike">
                <a:solidFill>
                  <a:srgbClr val="000000"/>
                </a:solidFill>
                <a:ea typeface="Pretendard Medium"/>
              </a:rPr>
              <a:t>AI</a:t>
            </a:r>
            <a:r>
              <a:rPr lang="ko-KR" altLang="en-US" sz="2000" b="0" i="0" u="none" strike="noStrike">
                <a:solidFill>
                  <a:srgbClr val="000000"/>
                </a:solidFill>
                <a:ea typeface="Pretendard Medium"/>
              </a:rPr>
              <a:t>기반 </a:t>
            </a:r>
            <a:r>
              <a:rPr lang="en-US" altLang="ko-KR" sz="2000" b="0" i="0" u="none" strike="noStrike">
                <a:solidFill>
                  <a:srgbClr val="000000"/>
                </a:solidFill>
                <a:ea typeface="Pretendard Medium"/>
              </a:rPr>
              <a:t>Online</a:t>
            </a:r>
            <a:r>
              <a:rPr lang="ko-KR" altLang="en-US" sz="2000" b="0" i="0" u="none" strike="noStrike">
                <a:solidFill>
                  <a:srgbClr val="000000"/>
                </a:solidFill>
                <a:ea typeface="Pretendard Medium"/>
              </a:rPr>
              <a:t> 면접 플랫폼</a:t>
            </a:r>
            <a:endParaRPr lang="ko-KR" altLang="en-US" sz="20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654300" y="5778500"/>
            <a:ext cx="54991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3200" b="0" i="0" u="none" strike="noStrike">
                <a:solidFill>
                  <a:srgbClr val="000000"/>
                </a:solidFill>
                <a:ea typeface="Pretendard SemiBold"/>
              </a:rPr>
              <a:t>AI&amp;UE Co-Project</a:t>
            </a:r>
            <a:endParaRPr lang="en-US" altLang="ko-KR" sz="3200" b="0" i="0" u="none" strike="noStrike">
              <a:solidFill>
                <a:srgbClr val="000000"/>
              </a:solidFill>
              <a:ea typeface="Pretendard SemiBold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altLang="ko-KR" sz="3200" b="0" i="0" u="none" strike="noStrike">
                <a:solidFill>
                  <a:srgbClr val="000000"/>
                </a:solidFill>
                <a:ea typeface="Pretendard SemiBold"/>
              </a:rPr>
              <a:t>ReNe</a:t>
            </a:r>
            <a:endParaRPr lang="en-US" altLang="ko-KR" sz="32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536700" y="5842000"/>
            <a:ext cx="711200" cy="444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500" b="0" i="0" u="none" strike="noStrike" spc="-100">
                <a:solidFill>
                  <a:srgbClr val="ff3c00"/>
                </a:solidFill>
                <a:latin typeface="Pretendard SemiBold"/>
              </a:rPr>
              <a:t>03</a:t>
            </a:r>
            <a:endParaRPr lang="en-US" sz="2500" b="0" i="0" u="none" strike="noStrike" spc="-100">
              <a:solidFill>
                <a:srgbClr val="ff3c00"/>
              </a:solidFill>
              <a:latin typeface="Pretendard Semi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096500" y="4419600"/>
            <a:ext cx="66802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2000" b="0" i="0" u="none" strike="noStrike">
                <a:solidFill>
                  <a:srgbClr val="000000"/>
                </a:solidFill>
                <a:ea typeface="Pretendard Medium"/>
              </a:rPr>
              <a:t>멀티플레이 구현 목표 프로젝트</a:t>
            </a:r>
            <a:r>
              <a:rPr lang="en-US" altLang="ko-KR" sz="2000" b="0" i="0" u="none" strike="noStrike">
                <a:solidFill>
                  <a:srgbClr val="000000"/>
                </a:solidFill>
                <a:ea typeface="Pretendard Medium"/>
              </a:rPr>
              <a:t>.</a:t>
            </a:r>
            <a:r>
              <a:rPr lang="ko-KR" altLang="en-US" sz="2000" b="0" i="0" u="none" strike="noStrike">
                <a:solidFill>
                  <a:srgbClr val="000000"/>
                </a:solidFill>
                <a:ea typeface="Pretendard Medium"/>
              </a:rPr>
              <a:t> 햄버거 제작 시뮬레이션</a:t>
            </a:r>
            <a:endParaRPr lang="ko-KR" altLang="en-US" sz="20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2654300" y="4305300"/>
            <a:ext cx="54991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endParaRPr lang="ko-KR" sz="32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536700" y="4368800"/>
            <a:ext cx="711200" cy="444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500" b="0" i="0" u="none" strike="noStrike" spc="-100">
                <a:solidFill>
                  <a:srgbClr val="ff3c00"/>
                </a:solidFill>
                <a:latin typeface="Pretendard SemiBold"/>
              </a:rPr>
              <a:t>02</a:t>
            </a:r>
            <a:endParaRPr lang="en-US" sz="2500" b="0" i="0" u="none" strike="noStrike" spc="-100">
              <a:solidFill>
                <a:srgbClr val="ff3c00"/>
              </a:solidFill>
              <a:latin typeface="Pretendard Semi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096500" y="2933700"/>
            <a:ext cx="66802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2000" b="0" i="0" u="none" strike="noStrike">
                <a:solidFill>
                  <a:srgbClr val="000000"/>
                </a:solidFill>
                <a:ea typeface="Pretendard Medium"/>
              </a:rPr>
              <a:t>탄도학 중심으로 모던워페어</a:t>
            </a:r>
            <a:r>
              <a:rPr lang="en-US" altLang="ko-KR" sz="2000" b="0" i="0" u="none" strike="noStrike">
                <a:solidFill>
                  <a:srgbClr val="000000"/>
                </a:solidFill>
                <a:ea typeface="Pretendard Medium"/>
              </a:rPr>
              <a:t>3</a:t>
            </a:r>
            <a:r>
              <a:rPr lang="ko-KR" altLang="en-US" sz="2000" b="0" i="0" u="none" strike="noStrike">
                <a:solidFill>
                  <a:srgbClr val="000000"/>
                </a:solidFill>
                <a:ea typeface="Pretendard Medium"/>
              </a:rPr>
              <a:t> 에펠탑 미션 연출하기</a:t>
            </a:r>
            <a:endParaRPr lang="ko-KR" altLang="en-US" sz="20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654300" y="2819400"/>
            <a:ext cx="54991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200" b="0" i="0" u="none" strike="noStrike">
                <a:solidFill>
                  <a:srgbClr val="000000"/>
                </a:solidFill>
                <a:ea typeface="Pretendard SemiBold"/>
              </a:rPr>
              <a:t>물리역학기반 프로젝트</a:t>
            </a:r>
            <a:endParaRPr lang="ko-KR" altLang="en-US" sz="3200" b="0" i="0" u="none" strike="noStrike">
              <a:solidFill>
                <a:srgbClr val="000000"/>
              </a:solidFill>
              <a:ea typeface="Pretendard SemiBold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altLang="ko-KR" sz="3200" b="0" i="0" u="none" strike="noStrike">
                <a:solidFill>
                  <a:srgbClr val="000000"/>
                </a:solidFill>
                <a:ea typeface="Pretendard SemiBold"/>
              </a:rPr>
              <a:t>CoD:MW3</a:t>
            </a:r>
            <a:r>
              <a:rPr lang="ko-KR" altLang="en-US" sz="3200" b="0" i="0" u="none" strike="noStrike">
                <a:solidFill>
                  <a:srgbClr val="000000"/>
                </a:solidFill>
                <a:ea typeface="Pretendard SemiBold"/>
              </a:rPr>
              <a:t> 모작</a:t>
            </a:r>
            <a:endParaRPr lang="ko-KR" altLang="en-US" sz="32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536700" y="2895600"/>
            <a:ext cx="711200" cy="444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500" b="0" i="0" u="none" strike="noStrike" spc="-100">
                <a:solidFill>
                  <a:srgbClr val="ff3c00"/>
                </a:solidFill>
                <a:latin typeface="Pretendard SemiBold"/>
              </a:rPr>
              <a:t>01</a:t>
            </a:r>
            <a:endParaRPr lang="en-US" sz="2500" b="0" i="0" u="none" strike="noStrike" spc="-100">
              <a:solidFill>
                <a:srgbClr val="ff3c00"/>
              </a:solidFill>
              <a:latin typeface="Pretendard SemiBold"/>
            </a:endParaRPr>
          </a:p>
        </p:txBody>
      </p:sp>
      <p:sp>
        <p:nvSpPr>
          <p:cNvPr id="38" name="TextBox 30"/>
          <p:cNvSpPr txBox="1"/>
          <p:nvPr/>
        </p:nvSpPr>
        <p:spPr>
          <a:xfrm>
            <a:off x="2667000" y="4305300"/>
            <a:ext cx="54991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3200" b="0" i="0" u="none" strike="noStrike">
                <a:solidFill>
                  <a:srgbClr val="000000"/>
                </a:solidFill>
                <a:ea typeface="Pretendard SemiBold"/>
              </a:rPr>
              <a:t>Multiplay </a:t>
            </a:r>
            <a:r>
              <a:rPr lang="ko-KR" altLang="en-US" sz="3200" b="0" i="0" u="none" strike="noStrike">
                <a:solidFill>
                  <a:srgbClr val="000000"/>
                </a:solidFill>
                <a:ea typeface="Pretendard SemiBold"/>
              </a:rPr>
              <a:t>프로젝트</a:t>
            </a:r>
            <a:endParaRPr lang="ko-KR" altLang="en-US" sz="3200" b="0" i="0" u="none" strike="noStrike">
              <a:solidFill>
                <a:srgbClr val="000000"/>
              </a:solidFill>
              <a:ea typeface="Pretendard SemiBold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ko-KR" altLang="en-US" sz="3200" b="0" i="0" u="none" strike="noStrike">
                <a:solidFill>
                  <a:srgbClr val="000000"/>
                </a:solidFill>
                <a:ea typeface="Pretendard SemiBold"/>
              </a:rPr>
              <a:t>자작 </a:t>
            </a:r>
            <a:r>
              <a:rPr lang="en-US" altLang="ko-KR" sz="3200" b="0" i="0" u="none" strike="noStrike">
                <a:solidFill>
                  <a:srgbClr val="000000"/>
                </a:solidFill>
                <a:ea typeface="Pretendard SemiBold"/>
              </a:rPr>
              <a:t>: MHGA</a:t>
            </a:r>
            <a:endParaRPr lang="en-US" altLang="ko-KR" sz="3200" b="0" i="0" u="none" strike="noStrike">
              <a:solidFill>
                <a:srgbClr val="000000"/>
              </a:solidFill>
              <a:ea typeface="Pretendard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03200" y="2082800"/>
            <a:ext cx="18681700" cy="8382000"/>
          </a:xfrm>
          <a:prstGeom prst="rect">
            <a:avLst/>
          </a:prstGeom>
          <a:effectLst>
            <a:outerShdw blurRad="874437" dir="5400000">
              <a:srgbClr val="000000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832100" y="660400"/>
            <a:ext cx="762000" cy="762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82600" y="9817100"/>
            <a:ext cx="173355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69900" y="8470900"/>
            <a:ext cx="5473700" cy="444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69900" y="8978900"/>
            <a:ext cx="5473700" cy="4445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20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Pretendard Regular"/>
              </a:rPr>
              <a:t>25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.0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Pretendard Regular"/>
              </a:rPr>
              <a:t>8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- 20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Pretendard Regular"/>
              </a:rPr>
              <a:t>25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.0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Pretendard Regular"/>
              </a:rPr>
              <a:t>9</a:t>
            </a:r>
            <a:endParaRPr lang="en-US" altLang="ko-KR" sz="18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  <a:endParaRPr lang="ko-KR" sz="19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500" b="0" i="0" u="none" strike="noStrike">
                <a:solidFill>
                  <a:srgbClr val="ffffff"/>
                </a:solidFill>
                <a:ea typeface="Pretendard Bold"/>
              </a:rPr>
              <a:t>물리기반 </a:t>
            </a:r>
            <a:r>
              <a:rPr lang="en-US" altLang="ko-KR" sz="3500" b="0" i="0" u="none" strike="noStrike">
                <a:solidFill>
                  <a:srgbClr val="ffffff"/>
                </a:solidFill>
                <a:ea typeface="Pretendard Bold"/>
              </a:rPr>
              <a:t>MW3</a:t>
            </a:r>
            <a:endParaRPr lang="en-US" altLang="ko-KR" sz="35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Pretendard Bold"/>
              </a:rPr>
              <a:t>01</a:t>
            </a:r>
            <a:endParaRPr lang="en-US" sz="2200" b="0" i="0" u="none" strike="noStrike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ffffff"/>
                </a:solidFill>
                <a:latin typeface="Pretendard SemiBold"/>
              </a:rPr>
              <a:t>Pr</a:t>
            </a:r>
            <a:r>
              <a:rPr lang="en-US" sz="4000" b="0" i="0" u="none" strike="noStrike" spc="-100">
                <a:solidFill>
                  <a:srgbClr val="ffffff"/>
                </a:solidFill>
                <a:latin typeface="Pretendard SemiBold"/>
              </a:rPr>
              <a:t>oject</a:t>
            </a:r>
            <a:endParaRPr lang="en-US" sz="4000" b="0" i="0" u="none" strike="noStrike" spc="-100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84200" y="8509000"/>
            <a:ext cx="52959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3c00"/>
                </a:solidFill>
                <a:latin typeface="Pretendard Bold"/>
              </a:rPr>
              <a:t>Point 1.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업무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포인트를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endParaRPr lang="en-US" sz="20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584200" y="9017000"/>
            <a:ext cx="52959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3c00"/>
                </a:solidFill>
                <a:latin typeface="Pretendard Bold"/>
              </a:rPr>
              <a:t>Point 2.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업무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포인트를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endParaRPr lang="en-US" sz="20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524000" y="3086100"/>
            <a:ext cx="5181600" cy="17316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프로젝트 소개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프로젝트에 들어간 내 분량 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  <a:p>
            <a:pPr>
              <a:defRPr/>
            </a:pPr>
            <a:r>
              <a:rPr lang="en-US" altLang="ko-KR"/>
              <a:t>1.</a:t>
            </a:r>
            <a:r>
              <a:rPr lang="ko-KR" altLang="en-US"/>
              <a:t> 총기 탄도</a:t>
            </a:r>
            <a:endParaRPr lang="ko-KR" altLang="en-US"/>
          </a:p>
          <a:p>
            <a:pPr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Ally NPC AI</a:t>
            </a:r>
            <a:br>
              <a:rPr lang="en-US" altLang="ko-KR"/>
            </a:br>
            <a:r>
              <a:rPr lang="en-US" altLang="ko-KR"/>
              <a:t>3. Story Manager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03200" y="2082800"/>
            <a:ext cx="18681700" cy="8382000"/>
          </a:xfrm>
          <a:prstGeom prst="rect">
            <a:avLst/>
          </a:prstGeom>
          <a:effectLst>
            <a:outerShdw blurRad="874437" dir="5400000">
              <a:srgbClr val="000000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832100" y="660400"/>
            <a:ext cx="762000" cy="762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82600" y="9817100"/>
            <a:ext cx="17335500" cy="254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3500" b="0" i="0" u="none" strike="noStrike">
                <a:solidFill>
                  <a:srgbClr val="ffffff"/>
                </a:solidFill>
                <a:ea typeface="Pretendard Bold"/>
              </a:rPr>
              <a:t>-</a:t>
            </a:r>
            <a:endParaRPr lang="en-US" altLang="ko-KR" sz="35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Pretendard Bold"/>
              </a:rPr>
              <a:t>0</a:t>
            </a:r>
            <a:r>
              <a:rPr lang="en-US" altLang="ko-KR" sz="2200" b="0" i="0" u="none" strike="noStrike">
                <a:solidFill>
                  <a:srgbClr val="ffffff"/>
                </a:solidFill>
                <a:latin typeface="Pretendard Bold"/>
              </a:rPr>
              <a:t>1-1</a:t>
            </a:r>
            <a:endParaRPr lang="en-US" altLang="ko-KR" sz="2200" b="0" i="0" u="none" strike="noStrike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4000" b="0" i="0" u="none" strike="noStrike">
                <a:solidFill>
                  <a:srgbClr val="ffffff"/>
                </a:solidFill>
                <a:latin typeface="Pretendard SemiBold"/>
              </a:rPr>
              <a:t>CoD</a:t>
            </a:r>
            <a:endParaRPr lang="en-US" altLang="ko-KR" sz="4000" b="0" i="0" u="none" strike="noStrike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27" name="TextBox 30"/>
          <p:cNvSpPr txBox="1"/>
          <p:nvPr/>
        </p:nvSpPr>
        <p:spPr>
          <a:xfrm>
            <a:off x="4038600" y="723900"/>
            <a:ext cx="76327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500" b="0" i="0" u="none" strike="noStrike">
                <a:solidFill>
                  <a:srgbClr val="ffffff"/>
                </a:solidFill>
                <a:ea typeface="Pretendard Bold"/>
              </a:rPr>
              <a:t>탄도 시스템</a:t>
            </a:r>
            <a:endParaRPr lang="ko-KR" altLang="en-US" sz="35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85800" y="2552700"/>
            <a:ext cx="8153400" cy="11791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총알의 움직임</a:t>
            </a:r>
            <a:endParaRPr lang="ko-KR" altLang="en-US"/>
          </a:p>
          <a:p>
            <a:pPr>
              <a:defRPr/>
            </a:pPr>
            <a:r>
              <a:rPr lang="en-US" altLang="ko-KR"/>
              <a:t>:</a:t>
            </a:r>
            <a:r>
              <a:rPr lang="ko-KR" altLang="en-US"/>
              <a:t> 물리엔진으로 </a:t>
            </a:r>
            <a:r>
              <a:rPr lang="en-US" altLang="ko-KR"/>
              <a:t>AddForce</a:t>
            </a:r>
            <a:r>
              <a:rPr lang="ko-KR" altLang="en-US"/>
              <a:t> 하면 너무 무겁다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r>
              <a:rPr lang="en-US" altLang="ko-KR"/>
              <a:t>:</a:t>
            </a:r>
            <a:r>
              <a:rPr lang="ko-KR" altLang="en-US"/>
              <a:t> 탄도학의 수학식을 적용해서 직접 좌표 계산하자 </a:t>
            </a:r>
            <a:r>
              <a:rPr lang="en-US" altLang="ko-KR"/>
              <a:t>(Velocity base)</a:t>
            </a:r>
            <a:endParaRPr lang="en-US" altLang="ko-KR"/>
          </a:p>
          <a:p>
            <a:pPr>
              <a:defRPr/>
            </a:pPr>
            <a:r>
              <a:rPr lang="en-US" altLang="ko-KR"/>
              <a:t>: * teleport</a:t>
            </a:r>
            <a:r>
              <a:rPr lang="ko-KR" altLang="en-US"/>
              <a:t> 문제 있음</a:t>
            </a:r>
            <a:r>
              <a:rPr lang="en-US" altLang="ko-KR"/>
              <a:t>.</a:t>
            </a:r>
            <a:r>
              <a:rPr lang="ko-KR" altLang="en-US"/>
              <a:t>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linetrace</a:t>
            </a:r>
            <a:r>
              <a:rPr lang="ko-KR" altLang="en-US"/>
              <a:t> 보정 필요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03200" y="2082800"/>
            <a:ext cx="18681700" cy="8382000"/>
          </a:xfrm>
          <a:prstGeom prst="rect">
            <a:avLst/>
          </a:prstGeom>
          <a:effectLst>
            <a:outerShdw blurRad="874437" dir="5400000">
              <a:srgbClr val="000000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832100" y="660400"/>
            <a:ext cx="762000" cy="762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57200" y="9817100"/>
            <a:ext cx="17335500" cy="25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3500" b="0" i="0" u="none" strike="noStrike">
                <a:solidFill>
                  <a:srgbClr val="ffffff"/>
                </a:solidFill>
                <a:ea typeface="Pretendard Bold"/>
              </a:rPr>
              <a:t>Ally NPC AI</a:t>
            </a:r>
            <a:endParaRPr lang="en-US" altLang="ko-KR" sz="35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Pretendard Bold"/>
              </a:rPr>
              <a:t>0</a:t>
            </a:r>
            <a:r>
              <a:rPr lang="en-US" altLang="ko-KR" sz="2200" b="0" i="0" u="none" strike="noStrike">
                <a:solidFill>
                  <a:srgbClr val="ffffff"/>
                </a:solidFill>
                <a:latin typeface="Pretendard Bold"/>
              </a:rPr>
              <a:t>1-2</a:t>
            </a:r>
            <a:endParaRPr lang="en-US" altLang="ko-KR" sz="2200" b="0" i="0" u="none" strike="noStrike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4000" b="0" i="0" u="none" strike="noStrike">
                <a:solidFill>
                  <a:srgbClr val="ffffff"/>
                </a:solidFill>
                <a:latin typeface="Pretendard SemiBold"/>
              </a:rPr>
              <a:t>CoD</a:t>
            </a:r>
            <a:endParaRPr lang="en-US" altLang="ko-KR" sz="4000" b="0" i="0" u="none" strike="noStrike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143000" y="2781300"/>
            <a:ext cx="10591800" cy="11791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Ally AI NPC</a:t>
            </a:r>
            <a:r>
              <a:rPr lang="ko-KR" altLang="en-US"/>
              <a:t> 캐릭터 구현</a:t>
            </a:r>
            <a:endParaRPr lang="ko-KR" altLang="en-US"/>
          </a:p>
          <a:p>
            <a:pPr>
              <a:defRPr/>
            </a:pP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FSM</a:t>
            </a:r>
            <a:r>
              <a:rPr lang="ko-KR" altLang="en-US"/>
              <a:t> 기반 구현</a:t>
            </a:r>
            <a:endParaRPr lang="ko-KR" altLang="en-US"/>
          </a:p>
          <a:p>
            <a:pPr>
              <a:defRPr/>
            </a:pPr>
            <a:r>
              <a:rPr lang="en-US" altLang="ko-KR"/>
              <a:t>:</a:t>
            </a:r>
            <a:r>
              <a:rPr lang="ko-KR" altLang="en-US"/>
              <a:t> 스토리 매니저와 연계해서 플레이어의 특정위치 도착 여부로 현재 페이즈의 지정된 위치로 이동</a:t>
            </a:r>
            <a:endParaRPr lang="ko-KR" altLang="en-US"/>
          </a:p>
          <a:p>
            <a:pPr>
              <a:defRPr/>
            </a:pP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21800" y="8470900"/>
            <a:ext cx="84836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3606800"/>
            <a:ext cx="8483600" cy="6007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69900" y="3606800"/>
            <a:ext cx="84836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21800" y="3606800"/>
            <a:ext cx="84709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21800" y="5207000"/>
            <a:ext cx="84709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21800" y="6794500"/>
            <a:ext cx="8470900" cy="254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업무의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핵심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성과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Result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37700" y="8648700"/>
            <a:ext cx="81534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이곳에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결론을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요약하여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써주세요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경험에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대한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결과를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잘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보여주는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KPI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를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간략하게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풀어주세요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21800" y="4381500"/>
            <a:ext cx="8509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21800" y="3822700"/>
            <a:ext cx="8534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문제해결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21800" y="5943600"/>
            <a:ext cx="8509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생산성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증가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21800" y="5397500"/>
            <a:ext cx="8534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생산성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증가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21800" y="7531100"/>
            <a:ext cx="8509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21800" y="6985000"/>
            <a:ext cx="8534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의사소통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협상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0" y="3594100"/>
            <a:ext cx="10198100" cy="6019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" y="3860800"/>
            <a:ext cx="11430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" y="5943600"/>
            <a:ext cx="1143000" cy="114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" y="8039100"/>
            <a:ext cx="1143000" cy="1143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7200" y="3606800"/>
            <a:ext cx="68580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620000" y="3594100"/>
            <a:ext cx="101981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7200" y="5676900"/>
            <a:ext cx="68580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7200" y="7747000"/>
            <a:ext cx="68580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772400" y="3911600"/>
            <a:ext cx="9867900" cy="5537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35000" y="6121400"/>
            <a:ext cx="812800" cy="812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49300" y="8343900"/>
            <a:ext cx="558800" cy="520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60400" y="4025900"/>
            <a:ext cx="812800" cy="8128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프로젝트를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통해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얻은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인사이트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Project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41500" y="43688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41500" y="37973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고객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니즈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41500" y="64516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문제상황에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41500" y="58801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or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기회상황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41500" y="85217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비교대상에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41500" y="79629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비교대상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5346700"/>
            <a:ext cx="17348200" cy="4267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" y="3822700"/>
            <a:ext cx="11430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13500" y="3822700"/>
            <a:ext cx="1143000" cy="114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31700" y="3822700"/>
            <a:ext cx="1143000" cy="1143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69900" y="3606800"/>
            <a:ext cx="54737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413500" y="3606800"/>
            <a:ext cx="54737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31700" y="3606800"/>
            <a:ext cx="54737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98500" y="5486400"/>
            <a:ext cx="16700500" cy="3987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35000" y="3987800"/>
            <a:ext cx="812800" cy="812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578600" y="3987800"/>
            <a:ext cx="812800" cy="812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496800" y="3987800"/>
            <a:ext cx="812800" cy="8128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프로젝트를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통해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얻은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인사이트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Result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76300" y="4292600"/>
            <a:ext cx="424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14400" y="3771900"/>
            <a:ext cx="426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의사소통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협상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83500" y="4292600"/>
            <a:ext cx="424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83500" y="3771900"/>
            <a:ext cx="426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생산성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증가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52600" y="4292600"/>
            <a:ext cx="424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52600" y="3771900"/>
            <a:ext cx="426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문제해결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14400" y="3606800"/>
            <a:ext cx="4191000" cy="294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21800" y="3606800"/>
            <a:ext cx="4191000" cy="294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21800" y="6654800"/>
            <a:ext cx="8483600" cy="295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8000" y="4394200"/>
            <a:ext cx="27305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390900" y="4394200"/>
            <a:ext cx="27305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286500" y="4394200"/>
            <a:ext cx="27305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7200" y="3606800"/>
            <a:ext cx="85725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7200" y="5676900"/>
            <a:ext cx="85725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7200" y="7747000"/>
            <a:ext cx="8572500" cy="2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321800" y="3606800"/>
            <a:ext cx="4191000" cy="2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321800" y="6654800"/>
            <a:ext cx="8483600" cy="25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601700" y="3606800"/>
            <a:ext cx="4191000" cy="25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업무를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수행하며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얻은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개선점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Project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7200" y="3797300"/>
            <a:ext cx="86360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고객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니즈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7200" y="64897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문제상황에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7200" y="58801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or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기회상황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7200" y="85598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비교대상에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57200" y="79629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비교대상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9600" y="47117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505200" y="47117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88100" y="47117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4394200"/>
            <a:ext cx="4660900" cy="95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91200" y="4394200"/>
            <a:ext cx="4673600" cy="952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6464300"/>
            <a:ext cx="46609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91200" y="6464300"/>
            <a:ext cx="46736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8547100"/>
            <a:ext cx="46609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91200" y="8547100"/>
            <a:ext cx="4673600" cy="95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87500" y="3619500"/>
            <a:ext cx="3530600" cy="171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80700" y="3619500"/>
            <a:ext cx="3530600" cy="1714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87500" y="5689600"/>
            <a:ext cx="3530600" cy="1714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87500" y="7759700"/>
            <a:ext cx="3530600" cy="1714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80700" y="7759700"/>
            <a:ext cx="3530600" cy="1714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680700" y="5689600"/>
            <a:ext cx="3530600" cy="17145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257800" y="4622800"/>
            <a:ext cx="444500" cy="444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5384800" y="4762500"/>
            <a:ext cx="177800" cy="1778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257800" y="6692900"/>
            <a:ext cx="444500" cy="444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5384800" y="6832600"/>
            <a:ext cx="177800" cy="1778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257800" y="8775700"/>
            <a:ext cx="444500" cy="444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5384800" y="8902700"/>
            <a:ext cx="177800" cy="177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57200" y="3606800"/>
            <a:ext cx="10007600" cy="25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57200" y="5676900"/>
            <a:ext cx="10007600" cy="25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57200" y="7747000"/>
            <a:ext cx="10007600" cy="25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274800" y="3606800"/>
            <a:ext cx="3530600" cy="12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680700" y="3606800"/>
            <a:ext cx="3530600" cy="12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274800" y="5676900"/>
            <a:ext cx="35306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680700" y="5676900"/>
            <a:ext cx="3530600" cy="12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274800" y="7747000"/>
            <a:ext cx="3530600" cy="12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680700" y="7747000"/>
            <a:ext cx="3530600" cy="127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업무를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수행하며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얻은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개선점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Result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57200" y="3797300"/>
            <a:ext cx="86360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문제해결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57200" y="58801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생산성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증가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57200" y="79629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의사소통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협상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09600" y="45212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방법에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905500" y="45212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결과에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09600" y="65913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생산성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증가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방법에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905500" y="65913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생산성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증가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결과에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09600" y="86741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방법에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905500" y="86741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결과에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2600" y="3606800"/>
            <a:ext cx="5473700" cy="600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3606800"/>
            <a:ext cx="54737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375400" y="3606800"/>
            <a:ext cx="114300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375400" y="6705600"/>
            <a:ext cx="114300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375400" y="4432300"/>
            <a:ext cx="36195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287000" y="4432300"/>
            <a:ext cx="3619500" cy="95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198600" y="4432300"/>
            <a:ext cx="36195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362700" y="7073900"/>
            <a:ext cx="3619500" cy="95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274300" y="7073900"/>
            <a:ext cx="3619500" cy="952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173200" y="7073900"/>
            <a:ext cx="3619500" cy="952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가장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의미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있었던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협업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Project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75400" y="37973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프로젝트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배경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34200" y="47498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Medium"/>
              </a:rPr>
              <a:t>Keyword 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45800" y="47498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Medium"/>
              </a:rPr>
              <a:t>Keyword 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44700" y="47498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Medium"/>
              </a:rPr>
              <a:t>Keyword 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13500" y="5626100"/>
            <a:ext cx="11455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해당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배경설명을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하는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부분입니다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작성해주세요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24600" y="8343900"/>
            <a:ext cx="3670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29400" y="7340600"/>
            <a:ext cx="30988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고객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니즈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28300" y="7340600"/>
            <a:ext cx="30988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문제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OR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기회상황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39900" y="7340600"/>
            <a:ext cx="30988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비교대상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48900" y="8343900"/>
            <a:ext cx="3670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문제상황에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47800" y="8343900"/>
            <a:ext cx="3670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비교대상에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9817100"/>
            <a:ext cx="17335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69900" y="3606800"/>
            <a:ext cx="5473700" cy="346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413500" y="3606800"/>
            <a:ext cx="5473700" cy="3467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31700" y="3606800"/>
            <a:ext cx="5473700" cy="346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69900" y="3606800"/>
            <a:ext cx="54737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413500" y="3606800"/>
            <a:ext cx="54737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31700" y="3606800"/>
            <a:ext cx="54737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82600" y="7493000"/>
            <a:ext cx="54483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426200" y="7493000"/>
            <a:ext cx="5448300" cy="95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31700" y="7493000"/>
            <a:ext cx="5448300" cy="9525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가장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의미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있었던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협업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Result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8500" y="7759700"/>
            <a:ext cx="50165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문제해결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82600" y="8648700"/>
            <a:ext cx="551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위에는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넣어주세요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29400" y="7759700"/>
            <a:ext cx="5041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생산성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증가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13500" y="8648700"/>
            <a:ext cx="551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생산성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증가에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위에는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넣어주세요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09500" y="7759700"/>
            <a:ext cx="5105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의사소통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협상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19000" y="8648700"/>
            <a:ext cx="551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위에는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넣어주세요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500" y="2603500"/>
            <a:ext cx="17653000" cy="3556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0" b="false" i="false" u="none" strike="noStrike">
                <a:solidFill>
                  <a:srgbClr val="000000">
                    <a:alpha val="20000"/>
                  </a:srgbClr>
                </a:solidFill>
                <a:latin typeface="Pretendard ExtraBold"/>
              </a:rPr>
              <a:t>THANK YOU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5143500"/>
            <a:ext cx="18681700" cy="5295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60700" y="9296400"/>
            <a:ext cx="12166600" cy="533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89000" y="876300"/>
            <a:ext cx="16510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89300" y="9385300"/>
            <a:ext cx="117094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true" i="false" u="none" strike="noStrike">
                <a:solidFill>
                  <a:srgbClr val="FFFFFF"/>
                </a:solidFill>
                <a:latin typeface="Pretendard Medium"/>
              </a:rPr>
              <a:t>M.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Medium"/>
              </a:rPr>
              <a:t> 010-1234-5678      |      </a:t>
            </a:r>
            <a:r>
              <a:rPr lang="en-US" sz="2100" b="true" i="false" u="none" strike="noStrike">
                <a:solidFill>
                  <a:srgbClr val="FFFFFF"/>
                </a:solidFill>
                <a:latin typeface="Pretendard Medium"/>
              </a:rPr>
              <a:t>E.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Medium"/>
              </a:rPr>
              <a:t> mirikim@miricompany.com      |      </a:t>
            </a:r>
            <a:r>
              <a:rPr lang="en-US" sz="2100" b="true" i="false" u="none" strike="noStrike">
                <a:solidFill>
                  <a:srgbClr val="FFFFFF"/>
                </a:solidFill>
                <a:latin typeface="Pretendard Medium"/>
              </a:rPr>
              <a:t>W.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Medium"/>
              </a:rPr>
              <a:t> www.kimmiri-site.co.kr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81200" y="6819900"/>
            <a:ext cx="14338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끝까지</a:t>
            </a:r>
            <a:r>
              <a:rPr lang="en-US" sz="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검토해</a:t>
            </a:r>
            <a:r>
              <a:rPr lang="en-US" sz="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주셔서</a:t>
            </a:r>
            <a:r>
              <a:rPr lang="en-US" sz="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 </a:t>
            </a:r>
            <a:r>
              <a:rPr lang="ko-KR" sz="2500" b="false" i="false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감사합니다</a:t>
            </a:r>
            <a:r>
              <a:rPr lang="en-US" sz="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78300" y="5232400"/>
            <a:ext cx="9918700" cy="168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9500" b="false" i="false" u="none" strike="noStrike" spc="400">
                <a:solidFill>
                  <a:srgbClr val="000000"/>
                </a:solidFill>
                <a:latin typeface="Pretendard Black"/>
              </a:rPr>
              <a:t>Kim M</a:t>
            </a:r>
            <a:r>
              <a:rPr lang="en-US" sz="9500" b="false" i="false" u="none" strike="noStrike" spc="400">
                <a:solidFill>
                  <a:srgbClr val="000000"/>
                </a:solidFill>
                <a:latin typeface="Pretendard Black"/>
              </a:rPr>
              <a:t>i-ri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35</ep:Words>
  <ep:PresentationFormat>On-screen Show (4:3)</ep:PresentationFormat>
  <ep:Paragraphs>4</ep:Paragraphs>
  <ep:Slides>14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Dove</cp:lastModifiedBy>
  <dcterms:modified xsi:type="dcterms:W3CDTF">2026-02-09T17:30:13.479</dcterms:modified>
  <cp:revision>33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