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11.png"  /><Relationship Id="rId11" Type="http://schemas.openxmlformats.org/officeDocument/2006/relationships/image" Target="../media/image11.png"  /><Relationship Id="rId12" Type="http://schemas.openxmlformats.org/officeDocument/2006/relationships/image" Target="../media/image12.png"  /><Relationship Id="rId13" Type="http://schemas.openxmlformats.org/officeDocument/2006/relationships/image" Target="../media/image12.png"  /><Relationship Id="rId14" Type="http://schemas.openxmlformats.org/officeDocument/2006/relationships/image" Target="../media/image12.png"  /><Relationship Id="rId15" Type="http://schemas.openxmlformats.org/officeDocument/2006/relationships/image" Target="../media/image13.jpe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6.png"  /><Relationship Id="rId8" Type="http://schemas.openxmlformats.org/officeDocument/2006/relationships/image" Target="../media/image9.png"  /><Relationship Id="rId9" Type="http://schemas.openxmlformats.org/officeDocument/2006/relationships/image" Target="../media/image10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8.png"  /><Relationship Id="rId11" Type="http://schemas.openxmlformats.org/officeDocument/2006/relationships/image" Target="../media/image16.png"  /><Relationship Id="rId12" Type="http://schemas.openxmlformats.org/officeDocument/2006/relationships/image" Target="../media/image18.png"  /><Relationship Id="rId13" Type="http://schemas.openxmlformats.org/officeDocument/2006/relationships/image" Target="../media/image16.png"  /><Relationship Id="rId14" Type="http://schemas.openxmlformats.org/officeDocument/2006/relationships/image" Target="../media/image18.png"  /><Relationship Id="rId15" Type="http://schemas.openxmlformats.org/officeDocument/2006/relationships/image" Target="../media/image16.png"  /><Relationship Id="rId16" Type="http://schemas.openxmlformats.org/officeDocument/2006/relationships/image" Target="../media/image18.png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Relationship Id="rId4" Type="http://schemas.openxmlformats.org/officeDocument/2006/relationships/image" Target="../media/image15.png"  /><Relationship Id="rId5" Type="http://schemas.openxmlformats.org/officeDocument/2006/relationships/image" Target="../media/image15.png"  /><Relationship Id="rId6" Type="http://schemas.openxmlformats.org/officeDocument/2006/relationships/image" Target="../media/image15.png"  /><Relationship Id="rId7" Type="http://schemas.openxmlformats.org/officeDocument/2006/relationships/image" Target="../media/image16.png"  /><Relationship Id="rId8" Type="http://schemas.openxmlformats.org/officeDocument/2006/relationships/image" Target="../media/image17.png"  /><Relationship Id="rId9" Type="http://schemas.openxmlformats.org/officeDocument/2006/relationships/image" Target="../media/image1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3.png"  /><Relationship Id="rId7" Type="http://schemas.openxmlformats.org/officeDocument/2006/relationships/image" Target="../media/image2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31.png"  /><Relationship Id="rId9" Type="http://schemas.openxmlformats.org/officeDocument/2006/relationships/image" Target="../media/image3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7.png"  /><Relationship Id="rId11" Type="http://schemas.openxmlformats.org/officeDocument/2006/relationships/image" Target="../media/image38.png"  /><Relationship Id="rId12" Type="http://schemas.openxmlformats.org/officeDocument/2006/relationships/image" Target="../media/image39.png"  /><Relationship Id="rId13" Type="http://schemas.openxmlformats.org/officeDocument/2006/relationships/image" Target="../media/image40.png"  /><Relationship Id="rId14" Type="http://schemas.openxmlformats.org/officeDocument/2006/relationships/image" Target="../media/image41.png"  /><Relationship Id="rId15" Type="http://schemas.openxmlformats.org/officeDocument/2006/relationships/image" Target="../media/image42.png"  /><Relationship Id="rId2" Type="http://schemas.openxmlformats.org/officeDocument/2006/relationships/image" Target="../media/image25.png"  /><Relationship Id="rId3" Type="http://schemas.openxmlformats.org/officeDocument/2006/relationships/image" Target="../media/image33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Relationship Id="rId6" Type="http://schemas.openxmlformats.org/officeDocument/2006/relationships/image" Target="../media/image34.png"  /><Relationship Id="rId7" Type="http://schemas.openxmlformats.org/officeDocument/2006/relationships/image" Target="../media/image28.png"  /><Relationship Id="rId8" Type="http://schemas.openxmlformats.org/officeDocument/2006/relationships/image" Target="../media/image35.png"  /><Relationship Id="rId9" Type="http://schemas.openxmlformats.org/officeDocument/2006/relationships/image" Target="../media/image3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6.png"  /><Relationship Id="rId11" Type="http://schemas.openxmlformats.org/officeDocument/2006/relationships/image" Target="../media/image47.png"  /><Relationship Id="rId12" Type="http://schemas.openxmlformats.org/officeDocument/2006/relationships/image" Target="../media/image48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43.png"  /><Relationship Id="rId6" Type="http://schemas.openxmlformats.org/officeDocument/2006/relationships/image" Target="../media/image34.png"  /><Relationship Id="rId7" Type="http://schemas.openxmlformats.org/officeDocument/2006/relationships/image" Target="../media/image28.png"  /><Relationship Id="rId8" Type="http://schemas.openxmlformats.org/officeDocument/2006/relationships/image" Target="../media/image44.png"  /><Relationship Id="rId9" Type="http://schemas.openxmlformats.org/officeDocument/2006/relationships/image" Target="../media/image4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3.png"  /><Relationship Id="rId11" Type="http://schemas.openxmlformats.org/officeDocument/2006/relationships/image" Target="../media/image54.png"  /><Relationship Id="rId12" Type="http://schemas.openxmlformats.org/officeDocument/2006/relationships/image" Target="../media/image55.png"  /><Relationship Id="rId13" Type="http://schemas.openxmlformats.org/officeDocument/2006/relationships/image" Target="../media/image31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49.png"  /><Relationship Id="rId6" Type="http://schemas.openxmlformats.org/officeDocument/2006/relationships/image" Target="../media/image50.png"  /><Relationship Id="rId7" Type="http://schemas.openxmlformats.org/officeDocument/2006/relationships/image" Target="../media/image51.png"  /><Relationship Id="rId8" Type="http://schemas.openxmlformats.org/officeDocument/2006/relationships/image" Target="../media/image52.png"  /><Relationship Id="rId9" Type="http://schemas.openxmlformats.org/officeDocument/2006/relationships/image" Target="../media/image2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0.png"  /><Relationship Id="rId11" Type="http://schemas.openxmlformats.org/officeDocument/2006/relationships/image" Target="../media/image61.png"  /><Relationship Id="rId12" Type="http://schemas.openxmlformats.org/officeDocument/2006/relationships/image" Target="../media/image62.png"  /><Relationship Id="rId13" Type="http://schemas.openxmlformats.org/officeDocument/2006/relationships/image" Target="../media/image63.png"  /><Relationship Id="rId14" Type="http://schemas.openxmlformats.org/officeDocument/2006/relationships/image" Target="../media/image64.png"  /><Relationship Id="rId15" Type="http://schemas.openxmlformats.org/officeDocument/2006/relationships/image" Target="../media/image65.png"  /><Relationship Id="rId16" Type="http://schemas.openxmlformats.org/officeDocument/2006/relationships/image" Target="../media/image66.png"  /><Relationship Id="rId17" Type="http://schemas.openxmlformats.org/officeDocument/2006/relationships/image" Target="../media/image67.png"  /><Relationship Id="rId18" Type="http://schemas.openxmlformats.org/officeDocument/2006/relationships/image" Target="../media/image68.png"  /><Relationship Id="rId19" Type="http://schemas.openxmlformats.org/officeDocument/2006/relationships/image" Target="../media/image69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Relationship Id="rId6" Type="http://schemas.openxmlformats.org/officeDocument/2006/relationships/image" Target="../media/image56.png"  /><Relationship Id="rId7" Type="http://schemas.openxmlformats.org/officeDocument/2006/relationships/image" Target="../media/image57.png"  /><Relationship Id="rId8" Type="http://schemas.openxmlformats.org/officeDocument/2006/relationships/image" Target="../media/image58.png"  /><Relationship Id="rId9" Type="http://schemas.openxmlformats.org/officeDocument/2006/relationships/image" Target="../media/image5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3.png"  /><Relationship Id="rId11" Type="http://schemas.openxmlformats.org/officeDocument/2006/relationships/image" Target="../media/image74.png"  /><Relationship Id="rId12" Type="http://schemas.openxmlformats.org/officeDocument/2006/relationships/image" Target="../media/image75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Relationship Id="rId6" Type="http://schemas.openxmlformats.org/officeDocument/2006/relationships/image" Target="../media/image70.png"  /><Relationship Id="rId7" Type="http://schemas.openxmlformats.org/officeDocument/2006/relationships/image" Target="../media/image44.png"  /><Relationship Id="rId8" Type="http://schemas.openxmlformats.org/officeDocument/2006/relationships/image" Target="../media/image71.png"  /><Relationship Id="rId9" Type="http://schemas.openxmlformats.org/officeDocument/2006/relationships/image" Target="../media/image7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9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8.png"  /><Relationship Id="rId5" Type="http://schemas.openxmlformats.org/officeDocument/2006/relationships/image" Target="../media/image27.png"  /><Relationship Id="rId6" Type="http://schemas.openxmlformats.org/officeDocument/2006/relationships/image" Target="../media/image76.png"  /><Relationship Id="rId7" Type="http://schemas.openxmlformats.org/officeDocument/2006/relationships/image" Target="../media/image77.png"  /><Relationship Id="rId8" Type="http://schemas.openxmlformats.org/officeDocument/2006/relationships/image" Target="../media/image78.png"  /><Relationship Id="rId9" Type="http://schemas.openxmlformats.org/officeDocument/2006/relationships/image" Target="../media/image4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0.png"  /><Relationship Id="rId3" Type="http://schemas.openxmlformats.org/officeDocument/2006/relationships/image" Target="../media/image26.png"  /><Relationship Id="rId4" Type="http://schemas.openxmlformats.org/officeDocument/2006/relationships/image" Target="../media/image8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2600" y="8636000"/>
            <a:ext cx="173355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7500" y="2641600"/>
            <a:ext cx="17653000" cy="3556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0000" b="0" i="0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Programmer</a:t>
            </a:r>
            <a:endParaRPr lang="en-US" altLang="ko-KR" sz="20000" b="0" i="0" u="none" strike="noStrike">
              <a:solidFill>
                <a:srgbClr val="000000">
                  <a:alpha val="20000"/>
                </a:srgbClr>
              </a:solidFill>
              <a:latin typeface="Pretendard Extra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203200" y="5130800"/>
            <a:ext cx="18681700" cy="5321300"/>
          </a:xfrm>
          <a:prstGeom prst="rect">
            <a:avLst/>
          </a:prstGeom>
          <a:effectLst>
            <a:outerShdw blurRad="352096" dir="5400000">
              <a:srgbClr val="000000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060700" y="9296400"/>
            <a:ext cx="12166600" cy="533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289300" y="9385300"/>
            <a:ext cx="117094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M.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010-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4768-5892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      |      </a:t>
            </a: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E.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kimhb532@gmail.com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      |      </a:t>
            </a: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W.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-</a:t>
            </a:r>
            <a:endParaRPr lang="en-US" altLang="ko-KR" sz="2100" b="0" i="0" u="none" strike="noStrike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81200" y="6819900"/>
            <a:ext cx="14338300" cy="444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이곳에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한줄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소개를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입력해주세요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.</a:t>
            </a:r>
            <a:endParaRPr lang="en-US" sz="2500" b="0" i="0" u="none" strike="noStrike">
              <a:solidFill>
                <a:srgbClr val="000000">
                  <a:alpha val="40000"/>
                </a:srgbClr>
              </a:solidFill>
              <a:latin typeface="Pretendard Semi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8300" y="5232400"/>
            <a:ext cx="9918700" cy="168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9500" b="0" i="0" u="none" strike="noStrike" spc="400">
                <a:solidFill>
                  <a:srgbClr val="000000"/>
                </a:solidFill>
                <a:latin typeface="Pretendard Black"/>
              </a:rPr>
              <a:t>Kim</a:t>
            </a:r>
            <a:r>
              <a:rPr lang="ko-KR" altLang="en-US" sz="9500" b="0" i="0" u="none" strike="noStrike" spc="400">
                <a:solidFill>
                  <a:srgbClr val="000000"/>
                </a:solidFill>
                <a:latin typeface="Pretendard Black"/>
              </a:rPr>
              <a:t> </a:t>
            </a:r>
            <a:r>
              <a:rPr lang="en-US" altLang="ko-KR" sz="9500" b="0" i="0" u="none" strike="noStrike" spc="400">
                <a:solidFill>
                  <a:srgbClr val="000000"/>
                </a:solidFill>
                <a:latin typeface="Pretendard Black"/>
              </a:rPr>
              <a:t>HongBeom</a:t>
            </a:r>
            <a:endParaRPr lang="en-US" altLang="ko-KR" sz="9500" b="0" i="0" u="none" strike="noStrike" spc="400">
              <a:solidFill>
                <a:srgbClr val="000000"/>
              </a:solidFill>
              <a:latin typeface="Pretendard Black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9000" y="876300"/>
            <a:ext cx="1651000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20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26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Kim 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HongBeom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Portfolio</a:t>
            </a:r>
            <a:endParaRPr lang="en-US" sz="2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203200" y="2032000"/>
            <a:ext cx="18681700" cy="8432800"/>
          </a:xfrm>
          <a:prstGeom prst="rect">
            <a:avLst/>
          </a:prstGeom>
          <a:effectLst>
            <a:outerShdw blurRad="884403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05400" y="4635500"/>
            <a:ext cx="127127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105400" y="7226300"/>
            <a:ext cx="127127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105400" y="2476500"/>
            <a:ext cx="127127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051800" y="8953500"/>
            <a:ext cx="10922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51800" y="8267700"/>
            <a:ext cx="2235200" cy="520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051800" y="7594600"/>
            <a:ext cx="1092200" cy="52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922000" y="8267700"/>
            <a:ext cx="1270000" cy="533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0922000" y="7594600"/>
            <a:ext cx="1092200" cy="533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922000" y="8953500"/>
            <a:ext cx="1092200" cy="5334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26" name="Group 26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32" name="Group 32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38" name="Group 38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44" name="Group 44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sp>
        <p:nvSpPr>
          <p:cNvPr id="51" name="TextBox 51"/>
          <p:cNvSpPr txBox="1"/>
          <p:nvPr/>
        </p:nvSpPr>
        <p:spPr>
          <a:xfrm>
            <a:off x="10960100" y="9029700"/>
            <a:ext cx="10160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SemiBold"/>
              </a:rPr>
              <a:t>Pr</a:t>
            </a:r>
            <a:endParaRPr lang="en-US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102600" y="9029700"/>
            <a:ext cx="10033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endParaRPr lang="en-US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922000" y="8356600"/>
            <a:ext cx="12700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ComfyUI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255000" y="8356600"/>
            <a:ext cx="18796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StableDiffusion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0922000" y="7670800"/>
            <a:ext cx="1079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Unreal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8064500" y="7670800"/>
            <a:ext cx="1079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C/C++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5092700" y="74295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기술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Skill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0922000" y="49403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8051800" y="49403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5092700" y="48768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경력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Experience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0922000" y="32004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051800" y="31877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-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0922000" y="26924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1900" b="0" i="0" u="none" strike="noStrike">
                <a:solidFill>
                  <a:srgbClr val="000000"/>
                </a:solidFill>
                <a:ea typeface="Pretendard Medium"/>
              </a:rPr>
              <a:t>제주대학교 컴퓨터 공학과 </a:t>
            </a: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(4</a:t>
            </a:r>
            <a:r>
              <a:rPr lang="ko-KR" altLang="en-US" sz="1900" b="0" i="0" u="none" strike="noStrike">
                <a:solidFill>
                  <a:srgbClr val="000000"/>
                </a:solidFill>
                <a:ea typeface="Pretendard Medium"/>
              </a:rPr>
              <a:t>년중퇴</a:t>
            </a: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)</a:t>
            </a:r>
            <a:endParaRPr lang="en-US" alt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8051800" y="26924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20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14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2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- 20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23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09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5092700" y="26162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학력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Education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876300" y="8547100"/>
            <a:ext cx="3657600" cy="1066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Medium"/>
              </a:rPr>
              <a:t>010-</a:t>
            </a: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4768-5892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kimhb532@gmail.com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-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508000" y="8547100"/>
            <a:ext cx="406400" cy="1066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M.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E.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W.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508000" y="7962900"/>
            <a:ext cx="36576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/ 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1995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10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13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508000" y="7442200"/>
            <a:ext cx="3670300" cy="482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700" b="0" i="0" u="none" strike="noStrike" spc="-100">
                <a:solidFill>
                  <a:srgbClr val="000000"/>
                </a:solidFill>
                <a:ea typeface="Pretendard Bold"/>
              </a:rPr>
              <a:t>김</a:t>
            </a:r>
            <a:r>
              <a:rPr lang="ko-KR" altLang="en-US" sz="2700" b="0" i="0" u="none" strike="noStrike" spc="-100">
                <a:solidFill>
                  <a:srgbClr val="000000"/>
                </a:solidFill>
                <a:ea typeface="Pretendard Bold"/>
              </a:rPr>
              <a:t>홍범</a:t>
            </a:r>
            <a:r>
              <a:rPr lang="en-US" sz="2700" b="0" i="0" u="none" strike="noStrike" spc="-100">
                <a:solidFill>
                  <a:srgbClr val="000000"/>
                </a:solidFill>
                <a:latin typeface="Pretendard Bold"/>
              </a:rPr>
              <a:t> Kim </a:t>
            </a:r>
            <a:r>
              <a:rPr lang="en-US" altLang="ko-KR" sz="2700" b="0" i="0" u="none" strike="noStrike" spc="-100">
                <a:solidFill>
                  <a:srgbClr val="000000"/>
                </a:solidFill>
                <a:latin typeface="Pretendard Bold"/>
              </a:rPr>
              <a:t>Hong Beom</a:t>
            </a:r>
            <a:endParaRPr lang="en-US" altLang="ko-KR" sz="2700" b="0" i="0" u="none" strike="noStrike" spc="-10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2801600" y="876300"/>
            <a:ext cx="461010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20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26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Kim 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HongBeom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Portfolio</a:t>
            </a:r>
            <a:endParaRPr lang="en-US" sz="2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762000" y="673100"/>
            <a:ext cx="102489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4000" b="0" i="0" u="none" strike="noStrike" spc="100">
                <a:solidFill>
                  <a:srgbClr val="ffffff"/>
                </a:solidFill>
                <a:ea typeface="Pretendard Bold"/>
              </a:rPr>
              <a:t>이력사항</a:t>
            </a:r>
            <a:endParaRPr lang="ko-KR" sz="4000" b="0" i="0" u="none" strike="noStrike" spc="100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1" name="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387191" y="2781300"/>
            <a:ext cx="3956208" cy="396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1500" y="203200"/>
            <a:ext cx="12052300" cy="2667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15000" b="0" i="0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Contents</a:t>
            </a:r>
            <a:endParaRPr lang="en-US" sz="15000" b="0" i="0" u="none" strike="noStrike">
              <a:solidFill>
                <a:srgbClr val="000000">
                  <a:alpha val="20000"/>
                </a:srgbClr>
              </a:solidFill>
              <a:latin typeface="Pretendard ExtraBold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32000"/>
            <a:ext cx="18681700" cy="8432800"/>
          </a:xfrm>
          <a:prstGeom prst="rect">
            <a:avLst/>
          </a:prstGeom>
          <a:effectLst>
            <a:outerShdw blurRad="884403" dir="54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74800" y="3848100"/>
            <a:ext cx="151511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74800" y="5334000"/>
            <a:ext cx="151511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74800" y="6807200"/>
            <a:ext cx="151511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74800" y="8280400"/>
            <a:ext cx="15151100" cy="254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64600" y="2832100"/>
            <a:ext cx="5715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2700000">
            <a:off x="9029700" y="3009900"/>
            <a:ext cx="241300" cy="2413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864600" y="4318000"/>
            <a:ext cx="5715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2700000">
            <a:off x="9029700" y="4483100"/>
            <a:ext cx="241300" cy="2413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864600" y="5791200"/>
            <a:ext cx="571500" cy="57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 rot="2700000">
            <a:off x="9029700" y="5956300"/>
            <a:ext cx="241300" cy="2413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864600" y="7277100"/>
            <a:ext cx="571500" cy="571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 rot="2700000">
            <a:off x="9029700" y="7442200"/>
            <a:ext cx="241300" cy="2413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864600" y="8750300"/>
            <a:ext cx="571500" cy="571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 rot="2700000">
            <a:off x="9029700" y="8915400"/>
            <a:ext cx="241300" cy="2413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096500" y="88519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654300" y="87376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  <a:endParaRPr 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36700" y="88011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05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96500" y="73660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654300" y="7251700"/>
            <a:ext cx="45593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  <a:endParaRPr 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536700" y="73279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04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096500" y="58928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AI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기반 </a:t>
            </a: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Online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 면접 플랫폼</a:t>
            </a:r>
            <a:endParaRPr lang="ko-KR" altLang="en-US" sz="20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654300" y="57785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AI&amp;UE Co-Project</a:t>
            </a:r>
            <a:endParaRPr lang="en-US" altLang="ko-KR" sz="32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ReNe</a:t>
            </a:r>
            <a:endParaRPr lang="en-US" alt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36700" y="58420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03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096500" y="44196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멀티플레이 구현 목표 프로젝트</a:t>
            </a: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.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 햄버거 제작 시뮬레이션</a:t>
            </a:r>
            <a:endParaRPr lang="ko-KR" altLang="en-US" sz="20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654300" y="43053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endParaRPr 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536700" y="43688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02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096500" y="2933700"/>
            <a:ext cx="668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탄도학 중심으로 모던워페어</a:t>
            </a:r>
            <a:r>
              <a:rPr lang="en-US" altLang="ko-KR" sz="2000" b="0" i="0" u="none" strike="noStrike">
                <a:solidFill>
                  <a:srgbClr val="000000"/>
                </a:solidFill>
                <a:ea typeface="Pretendard Medium"/>
              </a:rPr>
              <a:t>3</a:t>
            </a:r>
            <a:r>
              <a:rPr lang="ko-KR" altLang="en-US" sz="2000" b="0" i="0" u="none" strike="noStrike">
                <a:solidFill>
                  <a:srgbClr val="000000"/>
                </a:solidFill>
                <a:ea typeface="Pretendard Medium"/>
              </a:rPr>
              <a:t> 에펠탑 미션 연출하기</a:t>
            </a:r>
            <a:endParaRPr lang="ko-KR" altLang="en-US" sz="20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654300" y="28194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물리역학기반 프로젝트</a:t>
            </a:r>
            <a:endParaRPr lang="ko-KR" altLang="en-US" sz="32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CoD:MW3</a:t>
            </a: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 모작</a:t>
            </a:r>
            <a:endParaRPr lang="ko-KR" altLang="en-US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536700" y="2895600"/>
            <a:ext cx="711200" cy="444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500" b="0" i="0" u="none" strike="noStrike" spc="-100">
                <a:solidFill>
                  <a:srgbClr val="ff3c00"/>
                </a:solidFill>
                <a:latin typeface="Pretendard SemiBold"/>
              </a:rPr>
              <a:t>01</a:t>
            </a:r>
            <a:endParaRPr lang="en-US" sz="2500" b="0" i="0" u="none" strike="noStrike" spc="-100">
              <a:solidFill>
                <a:srgbClr val="ff3c00"/>
              </a:solidFill>
              <a:latin typeface="Pretendard SemiBold"/>
            </a:endParaRPr>
          </a:p>
        </p:txBody>
      </p:sp>
      <p:sp>
        <p:nvSpPr>
          <p:cNvPr id="38" name="TextBox 30"/>
          <p:cNvSpPr txBox="1"/>
          <p:nvPr/>
        </p:nvSpPr>
        <p:spPr>
          <a:xfrm>
            <a:off x="2667000" y="4305300"/>
            <a:ext cx="54991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Multiplay </a:t>
            </a: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프로젝트</a:t>
            </a:r>
            <a:endParaRPr lang="ko-KR" altLang="en-US" sz="32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ko-KR" altLang="en-US" sz="3200" b="0" i="0" u="none" strike="noStrike">
                <a:solidFill>
                  <a:srgbClr val="000000"/>
                </a:solidFill>
                <a:ea typeface="Pretendard SemiBold"/>
              </a:rPr>
              <a:t>자작 </a:t>
            </a:r>
            <a:r>
              <a:rPr lang="en-US" altLang="ko-KR" sz="3200" b="0" i="0" u="none" strike="noStrike">
                <a:solidFill>
                  <a:srgbClr val="000000"/>
                </a:solidFill>
                <a:ea typeface="Pretendard SemiBold"/>
              </a:rPr>
              <a:t>: MHGA</a:t>
            </a:r>
            <a:endParaRPr lang="en-US" altLang="ko-KR" sz="3200" b="0" i="0" u="none" strike="noStrike">
              <a:solidFill>
                <a:srgbClr val="000000"/>
              </a:solidFill>
              <a:ea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82800"/>
            <a:ext cx="18681700" cy="8382000"/>
          </a:xfrm>
          <a:prstGeom prst="rect">
            <a:avLst/>
          </a:prstGeom>
          <a:effectLst>
            <a:outerShdw blurRad="874437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32100" y="660400"/>
            <a:ext cx="762000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9900" y="8470900"/>
            <a:ext cx="5473700" cy="44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9900" y="8978900"/>
            <a:ext cx="5473700" cy="4445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20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25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.0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8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 - 20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25</a:t>
            </a: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.0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Regular"/>
              </a:rPr>
              <a:t>9</a:t>
            </a:r>
            <a:endParaRPr lang="en-US" altLang="ko-KR" sz="18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  <a:endParaRPr lang="ko-KR" sz="19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ffffff"/>
                </a:solidFill>
                <a:ea typeface="Pretendard Bold"/>
              </a:rPr>
              <a:t>물리기반 </a:t>
            </a:r>
            <a:r>
              <a:rPr lang="en-US" altLang="ko-KR" sz="3500" b="0" i="0" u="none" strike="noStrike">
                <a:solidFill>
                  <a:srgbClr val="ffffff"/>
                </a:solidFill>
                <a:ea typeface="Pretendard Bold"/>
              </a:rPr>
              <a:t>MW3</a:t>
            </a:r>
            <a:endParaRPr lang="en-US" altLang="ko-KR" sz="35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Pretendard Bold"/>
              </a:rPr>
              <a:t>01</a:t>
            </a:r>
            <a:endParaRPr lang="en-US" sz="22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SemiBold"/>
              </a:rPr>
              <a:t>Pr</a:t>
            </a:r>
            <a:r>
              <a:rPr lang="en-US" sz="4000" b="0" i="0" u="none" strike="noStrike" spc="-100">
                <a:solidFill>
                  <a:srgbClr val="ffffff"/>
                </a:solidFill>
                <a:latin typeface="Pretendard SemiBold"/>
              </a:rPr>
              <a:t>oject</a:t>
            </a:r>
            <a:endParaRPr lang="en-US" sz="4000" b="0" i="0" u="none" strike="noStrike" spc="-10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84200" y="8509000"/>
            <a:ext cx="52959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3c00"/>
                </a:solidFill>
                <a:latin typeface="Pretendard Bold"/>
              </a:rPr>
              <a:t>Point 1.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584200" y="9017000"/>
            <a:ext cx="52959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3c00"/>
                </a:solidFill>
                <a:latin typeface="Pretendard Bold"/>
              </a:rPr>
              <a:t>Point 2.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endParaRPr lang="en-US" sz="20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82800"/>
            <a:ext cx="18681700" cy="8382000"/>
          </a:xfrm>
          <a:prstGeom prst="rect">
            <a:avLst/>
          </a:prstGeom>
          <a:effectLst>
            <a:outerShdw blurRad="874437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32100" y="660400"/>
            <a:ext cx="762000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82600" y="8470900"/>
            <a:ext cx="17335500" cy="1143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100%</a:t>
            </a:r>
            <a:endParaRPr lang="en-US" sz="18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기여도</a:t>
            </a:r>
            <a:endParaRPr lang="ko-KR" sz="19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  <a:endParaRPr lang="en-US" sz="18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  <a:endParaRPr lang="ko-KR" sz="19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500" b="0" i="0" u="none" strike="noStrike">
                <a:solidFill>
                  <a:srgbClr val="ffffff"/>
                </a:solidFill>
                <a:ea typeface="Pretendard Bold"/>
              </a:rPr>
              <a:t>-</a:t>
            </a:r>
            <a:endParaRPr lang="en-US" altLang="ko-KR" sz="35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Pretendard Bold"/>
              </a:rPr>
              <a:t>01</a:t>
            </a:r>
            <a:endParaRPr lang="en-US" sz="22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SemiBold"/>
              </a:rPr>
              <a:t>Result</a:t>
            </a:r>
            <a:endParaRPr lang="en-US" sz="4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35000" y="8623300"/>
            <a:ext cx="17018000" cy="825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이곳에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결론을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요약하여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써주세요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.</a:t>
            </a:r>
            <a:endParaRPr lang="en-US" sz="2300" b="0" i="0" u="none" strike="noStrike">
              <a:solidFill>
                <a:srgbClr val="ff3c00"/>
              </a:solidFill>
              <a:latin typeface="Pretendard Medium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경험에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대한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결과를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잘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보여주는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KPI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를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간략하게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ff3c00"/>
                </a:solidFill>
                <a:ea typeface="Pretendard Medium"/>
              </a:rPr>
              <a:t>풀어주세요</a:t>
            </a:r>
            <a:r>
              <a:rPr lang="en-US" sz="2300" b="0" i="0" u="none" strike="noStrike">
                <a:solidFill>
                  <a:srgbClr val="ff3c00"/>
                </a:solidFill>
                <a:latin typeface="Pretendard Medium"/>
              </a:rPr>
              <a:t>.</a:t>
            </a:r>
            <a:endParaRPr lang="en-US" sz="2300" b="0" i="0" u="none" strike="noStrike">
              <a:solidFill>
                <a:srgbClr val="ff3c00"/>
              </a:solidFill>
              <a:latin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03200" y="2082800"/>
            <a:ext cx="18681700" cy="8382000"/>
          </a:xfrm>
          <a:prstGeom prst="rect">
            <a:avLst/>
          </a:prstGeom>
          <a:effectLst>
            <a:outerShdw blurRad="874437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32100" y="660400"/>
            <a:ext cx="762000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57200" y="9817100"/>
            <a:ext cx="173355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100%</a:t>
            </a:r>
            <a:endParaRPr lang="en-US" sz="18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기여도</a:t>
            </a:r>
            <a:endParaRPr lang="ko-KR" sz="19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  <a:endParaRPr lang="en-US" sz="18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0" i="0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  <a:endParaRPr lang="ko-KR" sz="19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3500" b="0" i="0" u="none" strike="noStrike">
                <a:solidFill>
                  <a:srgbClr val="ffffff"/>
                </a:solidFill>
                <a:ea typeface="Pretendard Bold"/>
              </a:rPr>
              <a:t>업무의</a:t>
            </a:r>
            <a:r>
              <a:rPr lang="en-US" sz="35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Bold"/>
              </a:rPr>
              <a:t>핵심</a:t>
            </a:r>
            <a:r>
              <a:rPr lang="en-US" sz="35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Bold"/>
              </a:rPr>
              <a:t>성과</a:t>
            </a:r>
            <a:endParaRPr lang="ko-KR" sz="35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Pretendard Bold"/>
              </a:rPr>
              <a:t>02</a:t>
            </a:r>
            <a:endParaRPr lang="en-US" sz="22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SemiBold"/>
              </a:rPr>
              <a:t>Project</a:t>
            </a:r>
            <a:endParaRPr lang="en-US" sz="4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  <a:endParaRPr lang="en-US" sz="2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8470900"/>
            <a:ext cx="84836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3606800"/>
            <a:ext cx="8483600" cy="600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9900" y="3606800"/>
            <a:ext cx="84836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3606800"/>
            <a:ext cx="84709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5207000"/>
            <a:ext cx="84709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6794500"/>
            <a:ext cx="8470900" cy="25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핵심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성과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37700" y="8648700"/>
            <a:ext cx="81534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이곳에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결론을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요약하여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써주세요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경험에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대한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결과를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잘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보여주는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KPI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간략하게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풀어주세요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1800" y="43815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21800" y="38227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1800" y="59436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21800" y="53975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1800" y="75311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21800" y="69850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0" y="3594100"/>
            <a:ext cx="10198100" cy="601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3860800"/>
            <a:ext cx="11430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5943600"/>
            <a:ext cx="11430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8039100"/>
            <a:ext cx="11430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3606800"/>
            <a:ext cx="68580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0" y="3594100"/>
            <a:ext cx="101981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" y="5676900"/>
            <a:ext cx="68580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7747000"/>
            <a:ext cx="68580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72400" y="3911600"/>
            <a:ext cx="9867900" cy="5537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35000" y="6121400"/>
            <a:ext cx="8128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9300" y="8343900"/>
            <a:ext cx="558800" cy="520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60400" y="4025900"/>
            <a:ext cx="812800" cy="812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프로젝트를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통해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인사이트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41500" y="4368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1500" y="3797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41500" y="64516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415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41500" y="85217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415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5346700"/>
            <a:ext cx="17348200" cy="4267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3822700"/>
            <a:ext cx="11430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13500" y="3822700"/>
            <a:ext cx="11430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31700" y="3822700"/>
            <a:ext cx="11430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98500" y="5486400"/>
            <a:ext cx="16700500" cy="3987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5000" y="3987800"/>
            <a:ext cx="812800" cy="812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78600" y="3987800"/>
            <a:ext cx="8128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96800" y="3987800"/>
            <a:ext cx="812800" cy="812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프로젝트를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통해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인사이트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763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144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835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835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526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526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14400" y="3606800"/>
            <a:ext cx="4191000" cy="294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3606800"/>
            <a:ext cx="4191000" cy="294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21800" y="6654800"/>
            <a:ext cx="8483600" cy="295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8000" y="4394200"/>
            <a:ext cx="2730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390900" y="4394200"/>
            <a:ext cx="27305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286500" y="4394200"/>
            <a:ext cx="2730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" y="3606800"/>
            <a:ext cx="85725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5676900"/>
            <a:ext cx="85725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7747000"/>
            <a:ext cx="85725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21800" y="3606800"/>
            <a:ext cx="41910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21800" y="6654800"/>
            <a:ext cx="84836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601700" y="3606800"/>
            <a:ext cx="4191000" cy="25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수행하며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개선점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7200" y="3797300"/>
            <a:ext cx="8636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7200" y="64897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72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200" y="8559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72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96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052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881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4394200"/>
            <a:ext cx="46609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4394200"/>
            <a:ext cx="4673600" cy="95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6464300"/>
            <a:ext cx="46609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6464300"/>
            <a:ext cx="46736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8547100"/>
            <a:ext cx="46609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8547100"/>
            <a:ext cx="46736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87500" y="3619500"/>
            <a:ext cx="35306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80700" y="3619500"/>
            <a:ext cx="3530600" cy="171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87500" y="5689600"/>
            <a:ext cx="3530600" cy="171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87500" y="7759700"/>
            <a:ext cx="3530600" cy="171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80700" y="7759700"/>
            <a:ext cx="3530600" cy="171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80700" y="5689600"/>
            <a:ext cx="3530600" cy="1714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4622800"/>
            <a:ext cx="4445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4762500"/>
            <a:ext cx="177800" cy="1778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6692900"/>
            <a:ext cx="4445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6832600"/>
            <a:ext cx="177800" cy="1778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8775700"/>
            <a:ext cx="444500" cy="444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8902700"/>
            <a:ext cx="177800" cy="177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57200" y="3606800"/>
            <a:ext cx="10007600" cy="25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57200" y="5676900"/>
            <a:ext cx="10007600" cy="25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57200" y="7747000"/>
            <a:ext cx="10007600" cy="25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3606800"/>
            <a:ext cx="3530600" cy="12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3606800"/>
            <a:ext cx="35306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5676900"/>
            <a:ext cx="35306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5676900"/>
            <a:ext cx="35306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7747000"/>
            <a:ext cx="3530600" cy="12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7747000"/>
            <a:ext cx="3530600" cy="127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수행하며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개선점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7200" y="3797300"/>
            <a:ext cx="8636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72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572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09600" y="45212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905500" y="45212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09600" y="65913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905500" y="65913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9600" y="86741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05500" y="86741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600" y="3606800"/>
            <a:ext cx="5473700" cy="600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3606800"/>
            <a:ext cx="54737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75400" y="3606800"/>
            <a:ext cx="11430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75400" y="6705600"/>
            <a:ext cx="114300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75400" y="4432300"/>
            <a:ext cx="3619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87000" y="4432300"/>
            <a:ext cx="36195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198600" y="4432300"/>
            <a:ext cx="36195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362700" y="7073900"/>
            <a:ext cx="3619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74300" y="7073900"/>
            <a:ext cx="36195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73200" y="7073900"/>
            <a:ext cx="3619500" cy="952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가장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의미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있었던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협업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75400" y="3797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프로젝트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배경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342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458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7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3500" y="5626100"/>
            <a:ext cx="11455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해당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배경설명을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부분입니다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작성해주세요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246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294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283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399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489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478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9900" y="3606800"/>
            <a:ext cx="5473700" cy="346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13500" y="3606800"/>
            <a:ext cx="5473700" cy="346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3606800"/>
            <a:ext cx="5473700" cy="346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" y="7493000"/>
            <a:ext cx="54483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26200" y="7493000"/>
            <a:ext cx="54483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31700" y="7493000"/>
            <a:ext cx="5448300" cy="952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가장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의미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있었던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협업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500" y="7759700"/>
            <a:ext cx="50165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26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29400" y="7759700"/>
            <a:ext cx="5041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135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09500" y="7759700"/>
            <a:ext cx="5105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190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500" y="2603500"/>
            <a:ext cx="17653000" cy="355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0" b="false" i="false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THANK YOU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5143500"/>
            <a:ext cx="18681700" cy="5295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60700" y="9296400"/>
            <a:ext cx="12166600" cy="533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9000" y="876300"/>
            <a:ext cx="16510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9300" y="9385300"/>
            <a:ext cx="117094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M.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010-1234-5678      |      </a:t>
            </a: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E.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mirikim@miricompany.com      |      </a:t>
            </a: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W.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www.kimmiri-site.co.kr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1200" y="6819900"/>
            <a:ext cx="14338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끝까지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검토해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주셔서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 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감사합니다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8300" y="5232400"/>
            <a:ext cx="9918700" cy="168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9500" b="false" i="false" u="none" strike="noStrike" spc="400">
                <a:solidFill>
                  <a:srgbClr val="000000"/>
                </a:solidFill>
                <a:latin typeface="Pretendard Black"/>
              </a:rPr>
              <a:t>Kim M</a:t>
            </a:r>
            <a:r>
              <a:rPr lang="en-US" sz="9500" b="false" i="false" u="none" strike="noStrike" spc="400">
                <a:solidFill>
                  <a:srgbClr val="000000"/>
                </a:solidFill>
                <a:latin typeface="Pretendard Black"/>
              </a:rPr>
              <a:t>i-ri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14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Dove</cp:lastModifiedBy>
  <dcterms:modified xsi:type="dcterms:W3CDTF">2026-02-02T15:51:38.510</dcterms:modified>
  <cp:revision>17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